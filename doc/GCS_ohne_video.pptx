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49" r:id="rId2"/>
    <p:sldMasterId id="2147483651" r:id="rId3"/>
    <p:sldMasterId id="2147483650" r:id="rId4"/>
  </p:sldMasterIdLst>
  <p:notesMasterIdLst>
    <p:notesMasterId r:id="rId12"/>
  </p:notesMasterIdLst>
  <p:sldIdLst>
    <p:sldId id="270" r:id="rId5"/>
    <p:sldId id="282" r:id="rId6"/>
    <p:sldId id="269" r:id="rId7"/>
    <p:sldId id="283" r:id="rId8"/>
    <p:sldId id="285" r:id="rId9"/>
    <p:sldId id="284" r:id="rId10"/>
    <p:sldId id="280" r:id="rId11"/>
  </p:sldIdLst>
  <p:sldSz cx="12192000" cy="6858000"/>
  <p:notesSz cx="6858000" cy="9144000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Myriad Pro" panose="020B0503030403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Myriad Pro" panose="020B0503030403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Myriad Pro" panose="020B0503030403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Myriad Pro" panose="020B0503030403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Myriad Pro" panose="020B0503030403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Myriad Pro" panose="020B0503030403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Myriad Pro" panose="020B0503030403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Myriad Pro" panose="020B0503030403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Myriad Pro" panose="020B0503030403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572">
          <p15:clr>
            <a:srgbClr val="A4A3A4"/>
          </p15:clr>
        </p15:guide>
        <p15:guide id="3" orient="horz" pos="4247">
          <p15:clr>
            <a:srgbClr val="A4A3A4"/>
          </p15:clr>
        </p15:guide>
        <p15:guide id="4" orient="horz" pos="4156">
          <p15:clr>
            <a:srgbClr val="A4A3A4"/>
          </p15:clr>
        </p15:guide>
        <p15:guide id="5" pos="3840">
          <p15:clr>
            <a:srgbClr val="A4A3A4"/>
          </p15:clr>
        </p15:guide>
        <p15:guide id="6" pos="75">
          <p15:clr>
            <a:srgbClr val="A4A3A4"/>
          </p15:clr>
        </p15:guide>
        <p15:guide id="7" pos="7605">
          <p15:clr>
            <a:srgbClr val="A4A3A4"/>
          </p15:clr>
        </p15:guide>
        <p15:guide id="8" pos="347">
          <p15:clr>
            <a:srgbClr val="A4A3A4"/>
          </p15:clr>
        </p15:guide>
        <p15:guide id="9" pos="7333">
          <p15:clr>
            <a:srgbClr val="A4A3A4"/>
          </p15:clr>
        </p15:guide>
        <p15:guide id="10" orient="horz" pos="84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99"/>
    <a:srgbClr val="99FF99"/>
    <a:srgbClr val="990033"/>
    <a:srgbClr val="00394A"/>
    <a:srgbClr val="5F5F5F"/>
    <a:srgbClr val="003241"/>
    <a:srgbClr val="00323C"/>
    <a:srgbClr val="009999"/>
    <a:srgbClr val="DAD9D3"/>
    <a:srgbClr val="B2B1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ittlere Formatvorlag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89" autoAdjust="0"/>
    <p:restoredTop sz="86077" autoAdjust="0"/>
  </p:normalViewPr>
  <p:slideViewPr>
    <p:cSldViewPr>
      <p:cViewPr varScale="1">
        <p:scale>
          <a:sx n="98" d="100"/>
          <a:sy n="98" d="100"/>
        </p:scale>
        <p:origin x="1146" y="84"/>
      </p:cViewPr>
      <p:guideLst>
        <p:guide orient="horz" pos="2160"/>
        <p:guide orient="horz" pos="572"/>
        <p:guide orient="horz" pos="4247"/>
        <p:guide orient="horz" pos="4156"/>
        <p:guide pos="3840"/>
        <p:guide pos="75"/>
        <p:guide pos="7605"/>
        <p:guide pos="347"/>
        <p:guide pos="7333"/>
        <p:guide orient="horz" pos="84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152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112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2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Textmasterformate durch Klicken bearbeiten</a:t>
            </a:r>
          </a:p>
          <a:p>
            <a:pPr lvl="1"/>
            <a:r>
              <a:rPr lang="de-DE" altLang="de-DE" noProof="0"/>
              <a:t>Zweite Ebene</a:t>
            </a:r>
          </a:p>
          <a:p>
            <a:pPr lvl="2"/>
            <a:r>
              <a:rPr lang="de-DE" altLang="de-DE" noProof="0"/>
              <a:t>Dritte Ebene</a:t>
            </a:r>
          </a:p>
          <a:p>
            <a:pPr lvl="3"/>
            <a:r>
              <a:rPr lang="de-DE" altLang="de-DE" noProof="0"/>
              <a:t>Vierte Ebene</a:t>
            </a:r>
          </a:p>
          <a:p>
            <a:pPr lvl="4"/>
            <a:r>
              <a:rPr lang="de-DE" altLang="de-DE" noProof="0"/>
              <a:t>Fünfte Ebene</a:t>
            </a:r>
          </a:p>
        </p:txBody>
      </p:sp>
      <p:sp>
        <p:nvSpPr>
          <p:cNvPr id="152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152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fld id="{AD594C0A-EA0F-4618-8CBA-F066B24EF7D1}" type="slidenum">
              <a:rPr lang="de-DE" altLang="de-DE"/>
              <a:pPr/>
              <a:t>‹Nr.›</a:t>
            </a:fld>
            <a:endParaRPr lang="de-DE" alt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594C0A-EA0F-4618-8CBA-F066B24EF7D1}" type="slidenum">
              <a:rPr lang="de-DE" altLang="de-DE" smtClean="0"/>
              <a:pPr/>
              <a:t>1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2104083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Zuerst publiziert 1974 von Bryan </a:t>
            </a:r>
            <a:r>
              <a:rPr lang="de-DE" dirty="0" err="1"/>
              <a:t>Jennet</a:t>
            </a:r>
            <a:r>
              <a:rPr lang="de-DE" dirty="0"/>
              <a:t> und  Graham </a:t>
            </a:r>
            <a:r>
              <a:rPr lang="de-DE" dirty="0" err="1"/>
              <a:t>Taesdale</a:t>
            </a:r>
            <a:r>
              <a:rPr lang="de-DE" dirty="0"/>
              <a:t> </a:t>
            </a:r>
          </a:p>
          <a:p>
            <a:pPr marL="171450" indent="-171450">
              <a:buFontTx/>
              <a:buChar char="-"/>
            </a:pPr>
            <a:r>
              <a:rPr lang="de-DE" dirty="0"/>
              <a:t>Bewertung des Grades an Bewusstsein eines Patienten</a:t>
            </a:r>
          </a:p>
          <a:p>
            <a:pPr marL="171450" indent="-171450">
              <a:buFontTx/>
              <a:buChar char="-"/>
            </a:pPr>
            <a:r>
              <a:rPr lang="de-DE" dirty="0"/>
              <a:t>Erkennung möglicher Hirnschäden</a:t>
            </a:r>
          </a:p>
          <a:p>
            <a:pPr marL="0" indent="0">
              <a:buFontTx/>
              <a:buNone/>
            </a:pPr>
            <a:r>
              <a:rPr lang="de-DE" dirty="0"/>
              <a:t>Punktesystem über drei Kategorien</a:t>
            </a:r>
          </a:p>
          <a:p>
            <a:pPr marL="171450" indent="-171450">
              <a:buFontTx/>
              <a:buChar char="-"/>
            </a:pPr>
            <a:r>
              <a:rPr lang="de-DE" dirty="0"/>
              <a:t>Augenöffnung</a:t>
            </a:r>
          </a:p>
          <a:p>
            <a:pPr marL="171450" indent="-171450">
              <a:buFontTx/>
              <a:buChar char="-"/>
            </a:pPr>
            <a:r>
              <a:rPr lang="de-DE" dirty="0"/>
              <a:t>Verbale Kommunikation</a:t>
            </a:r>
          </a:p>
          <a:p>
            <a:pPr marL="171450" indent="-171450">
              <a:buFontTx/>
              <a:buChar char="-"/>
            </a:pPr>
            <a:r>
              <a:rPr lang="de-DE" dirty="0"/>
              <a:t>Motorische Reaktion</a:t>
            </a:r>
          </a:p>
          <a:p>
            <a:pPr marL="171450" indent="-171450">
              <a:buFontTx/>
              <a:buChar char="-"/>
            </a:pPr>
            <a:r>
              <a:rPr lang="de-DE" dirty="0"/>
              <a:t>Max 15 Punkte, min 3 Punkte</a:t>
            </a:r>
          </a:p>
          <a:p>
            <a:pPr marL="0" indent="0">
              <a:buFontTx/>
              <a:buNone/>
            </a:pPr>
            <a:r>
              <a:rPr lang="de-DE" dirty="0"/>
              <a:t>Grafik eingefärbt nach verbale oder nonverbale Reaktion</a:t>
            </a:r>
          </a:p>
          <a:p>
            <a:pPr marL="0" indent="0">
              <a:buFontTx/>
              <a:buNone/>
            </a:pPr>
            <a:r>
              <a:rPr lang="de-DE" dirty="0"/>
              <a:t>Augenöffnung</a:t>
            </a:r>
          </a:p>
          <a:p>
            <a:pPr marL="171450" indent="-171450">
              <a:buFontTx/>
              <a:buChar char="-"/>
            </a:pPr>
            <a:r>
              <a:rPr lang="de-DE" dirty="0"/>
              <a:t>+4 spontan durch Erkennen der testenden Person</a:t>
            </a:r>
          </a:p>
          <a:p>
            <a:pPr marL="171450" indent="-171450">
              <a:buFontTx/>
              <a:buChar char="-"/>
            </a:pPr>
            <a:r>
              <a:rPr lang="de-DE" dirty="0"/>
              <a:t>+3 nach Ansprache</a:t>
            </a:r>
          </a:p>
          <a:p>
            <a:pPr marL="171450" indent="-171450">
              <a:buFontTx/>
              <a:buChar char="-"/>
            </a:pPr>
            <a:r>
              <a:rPr lang="de-DE" dirty="0"/>
              <a:t>+2 nach Schmerzreiz (z.B. Fingernagel, hier lautes Geräusch)</a:t>
            </a:r>
          </a:p>
          <a:p>
            <a:pPr marL="171450" indent="-171450">
              <a:buFontTx/>
              <a:buChar char="-"/>
            </a:pPr>
            <a:r>
              <a:rPr lang="de-DE" dirty="0"/>
              <a:t>+1 keine Reaktion</a:t>
            </a:r>
          </a:p>
          <a:p>
            <a:pPr marL="0" indent="0">
              <a:buFontTx/>
              <a:buNone/>
            </a:pPr>
            <a:r>
              <a:rPr lang="de-DE" dirty="0"/>
              <a:t>Verbale Reaktion</a:t>
            </a:r>
          </a:p>
          <a:p>
            <a:pPr marL="171450" indent="-171450">
              <a:buFontTx/>
              <a:buChar char="-"/>
            </a:pPr>
            <a:r>
              <a:rPr lang="de-DE" dirty="0"/>
              <a:t>+5 Antwort auf Frage nach Name, Ort und Monat</a:t>
            </a:r>
          </a:p>
          <a:p>
            <a:pPr marL="171450" indent="-171450">
              <a:buFontTx/>
              <a:buChar char="-"/>
            </a:pPr>
            <a:r>
              <a:rPr lang="de-DE" dirty="0"/>
              <a:t>+4 Ganze Sätze, aber falsche Antworten</a:t>
            </a:r>
          </a:p>
          <a:p>
            <a:pPr marL="171450" indent="-171450">
              <a:buFontTx/>
              <a:buChar char="-"/>
            </a:pPr>
            <a:r>
              <a:rPr lang="de-DE" dirty="0"/>
              <a:t>+3 Keine ganzen Sätze</a:t>
            </a:r>
          </a:p>
          <a:p>
            <a:pPr marL="171450" indent="-171450">
              <a:buFontTx/>
              <a:buChar char="-"/>
            </a:pPr>
            <a:r>
              <a:rPr lang="de-DE" dirty="0"/>
              <a:t>+2 Geräusche, Stöhnen, unverständlich</a:t>
            </a:r>
          </a:p>
          <a:p>
            <a:pPr marL="171450" indent="-171450">
              <a:buFontTx/>
              <a:buChar char="-"/>
            </a:pPr>
            <a:r>
              <a:rPr lang="de-DE" dirty="0"/>
              <a:t>+1 Keine Reaktion</a:t>
            </a:r>
          </a:p>
          <a:p>
            <a:pPr marL="0" indent="0">
              <a:buFontTx/>
              <a:buNone/>
            </a:pPr>
            <a:r>
              <a:rPr lang="de-DE" dirty="0"/>
              <a:t>Motorische Reaktion</a:t>
            </a:r>
          </a:p>
          <a:p>
            <a:pPr marL="171450" indent="-171450">
              <a:buFontTx/>
              <a:buChar char="-"/>
            </a:pPr>
            <a:r>
              <a:rPr lang="de-DE" dirty="0"/>
              <a:t>+6 nach Aufforderung z.B. Zunge herausstrecken, Hand greifen</a:t>
            </a:r>
          </a:p>
          <a:p>
            <a:pPr marL="171450" indent="-171450">
              <a:buFontTx/>
              <a:buChar char="-"/>
            </a:pPr>
            <a:r>
              <a:rPr lang="de-DE" dirty="0"/>
              <a:t>Reiz durch Druck auf Trapezmuskel oder Druck auf </a:t>
            </a:r>
            <a:r>
              <a:rPr lang="de-DE" dirty="0" err="1"/>
              <a:t>Nervus</a:t>
            </a:r>
            <a:r>
              <a:rPr lang="de-DE" dirty="0"/>
              <a:t> </a:t>
            </a:r>
            <a:r>
              <a:rPr lang="de-DE" dirty="0" err="1"/>
              <a:t>Superorbitalis</a:t>
            </a:r>
            <a:endParaRPr lang="de-DE" dirty="0"/>
          </a:p>
          <a:p>
            <a:pPr marL="628650" lvl="1" indent="-171450">
              <a:buFontTx/>
              <a:buChar char="-"/>
            </a:pPr>
            <a:r>
              <a:rPr lang="de-DE" dirty="0"/>
              <a:t>+5 wenn Patient in Schmerzreiz lokalisiert</a:t>
            </a:r>
          </a:p>
          <a:p>
            <a:pPr marL="628650" lvl="1" indent="-171450">
              <a:buFontTx/>
              <a:buChar char="-"/>
            </a:pPr>
            <a:r>
              <a:rPr lang="de-DE" dirty="0"/>
              <a:t>+4 zurückziehen, unkontrolliertes Ausweichen</a:t>
            </a:r>
          </a:p>
          <a:p>
            <a:pPr marL="628650" lvl="1" indent="-171450">
              <a:buFontTx/>
              <a:buChar char="-"/>
            </a:pPr>
            <a:r>
              <a:rPr lang="de-DE" dirty="0"/>
              <a:t>+3 unvollständige Bewegung in Richtung Schmerz</a:t>
            </a:r>
          </a:p>
          <a:p>
            <a:pPr marL="628650" lvl="1" indent="-171450">
              <a:buFontTx/>
              <a:buChar char="-"/>
            </a:pPr>
            <a:r>
              <a:rPr lang="de-DE" dirty="0"/>
              <a:t>+2 Entgegengesetzte Bewegung (vom Schmerz weg)</a:t>
            </a:r>
          </a:p>
          <a:p>
            <a:pPr marL="628650" lvl="1" indent="-171450">
              <a:buFontTx/>
              <a:buChar char="-"/>
            </a:pPr>
            <a:r>
              <a:rPr lang="de-DE" dirty="0"/>
              <a:t>+1 keine Reaktion</a:t>
            </a:r>
          </a:p>
          <a:p>
            <a:pPr marL="0" indent="0">
              <a:buFontTx/>
              <a:buNone/>
            </a:pPr>
            <a:r>
              <a:rPr lang="de-DE" dirty="0"/>
              <a:t>Klassifikation</a:t>
            </a:r>
          </a:p>
          <a:p>
            <a:pPr marL="171450" indent="-171450">
              <a:buFontTx/>
              <a:buChar char="-"/>
            </a:pPr>
            <a:r>
              <a:rPr lang="de-DE" dirty="0"/>
              <a:t>&lt; 9 Punkte: schwere Kopfverletzungen / Bewusstseinseinschränkungen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de-DE" dirty="0"/>
              <a:t>9 – 12: moderate Kopfverletzungen / Bewusstseinseinschränkungen</a:t>
            </a:r>
          </a:p>
          <a:p>
            <a:pPr marL="171450" indent="-171450">
              <a:buFontTx/>
              <a:buChar char="-"/>
            </a:pPr>
            <a:r>
              <a:rPr lang="de-DE" dirty="0"/>
              <a:t>13 – 15: leichte Kopfverletzungen / Bewusstseinseinschränkungen</a:t>
            </a:r>
          </a:p>
          <a:p>
            <a:pPr marL="0" lvl="0" indent="0">
              <a:buFontTx/>
              <a:buNone/>
            </a:pPr>
            <a:endParaRPr lang="de-DE" dirty="0"/>
          </a:p>
          <a:p>
            <a:pPr marL="0" lvl="0" indent="0">
              <a:buFontTx/>
              <a:buNone/>
            </a:pPr>
            <a:r>
              <a:rPr lang="de-DE" dirty="0"/>
              <a:t>Ersetzen von Schmerzreizen evtl. durch lautes Geräusch, birgt aber Probleme mit Bewertung der Schmerzreizlokalisation. Lösung?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594C0A-EA0F-4618-8CBA-F066B24EF7D1}" type="slidenum">
              <a:rPr lang="de-DE" altLang="de-DE" smtClean="0"/>
              <a:pPr/>
              <a:t>2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8031864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Nicht-verbale Bestimmung mittels </a:t>
            </a:r>
            <a:r>
              <a:rPr lang="de-DE" dirty="0" err="1"/>
              <a:t>Nuitrack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 err="1"/>
              <a:t>Keypoints</a:t>
            </a:r>
            <a:r>
              <a:rPr lang="de-DE" dirty="0"/>
              <a:t> an Augen und Mund</a:t>
            </a:r>
          </a:p>
          <a:p>
            <a:pPr marL="628650" lvl="1" indent="-171450">
              <a:buFontTx/>
              <a:buChar char="-"/>
            </a:pPr>
            <a:r>
              <a:rPr lang="de-DE" dirty="0"/>
              <a:t>Bestimmung von Öffnungswinkeln möglich</a:t>
            </a:r>
          </a:p>
          <a:p>
            <a:pPr marL="171450" lvl="0" indent="-171450">
              <a:buFontTx/>
              <a:buChar char="-"/>
            </a:pPr>
            <a:r>
              <a:rPr lang="de-DE" dirty="0"/>
              <a:t>Blickrichtung über Gesichtsvektor</a:t>
            </a:r>
          </a:p>
          <a:p>
            <a:pPr marL="171450" lvl="0" indent="-171450">
              <a:buFontTx/>
              <a:buChar char="-"/>
            </a:pPr>
            <a:r>
              <a:rPr lang="de-DE" dirty="0"/>
              <a:t>Hand und Armbewegungen können getrackt werden</a:t>
            </a:r>
          </a:p>
          <a:p>
            <a:pPr marL="171450" lvl="0" indent="-171450">
              <a:buFontTx/>
              <a:buChar char="-"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594C0A-EA0F-4618-8CBA-F066B24EF7D1}" type="slidenum">
              <a:rPr lang="de-DE" altLang="de-DE" smtClean="0"/>
              <a:pPr/>
              <a:t>3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3177463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Teilweise hohe Varianz bei Ortsbestimmung von Körperteilen</a:t>
            </a:r>
          </a:p>
          <a:p>
            <a:r>
              <a:rPr lang="de-DE" dirty="0"/>
              <a:t>- Unsichere Klassifikationen entfernen, z.B. Stuhlbeine</a:t>
            </a:r>
          </a:p>
          <a:p>
            <a:r>
              <a:rPr lang="de-DE" dirty="0"/>
              <a:t>Springen von Körperteilen mit niedriger Varianz</a:t>
            </a:r>
          </a:p>
          <a:p>
            <a:pPr marL="171450" indent="-171450">
              <a:buFontTx/>
              <a:buChar char="-"/>
            </a:pPr>
            <a:r>
              <a:rPr lang="de-DE" dirty="0"/>
              <a:t>Macht Filterung über Zeit notwendig</a:t>
            </a:r>
          </a:p>
          <a:p>
            <a:pPr marL="171450" indent="-171450">
              <a:buFontTx/>
              <a:buChar char="-"/>
            </a:pPr>
            <a:r>
              <a:rPr lang="de-DE" dirty="0"/>
              <a:t>Analytische Betrachtung der Funktion, nicht nur Durchschnittswerte</a:t>
            </a:r>
          </a:p>
          <a:p>
            <a:pPr marL="0" indent="0">
              <a:buFontTx/>
              <a:buNone/>
            </a:pPr>
            <a:endParaRPr lang="de-DE" dirty="0"/>
          </a:p>
          <a:p>
            <a:pPr marL="0" indent="0">
              <a:buFontTx/>
              <a:buNone/>
            </a:pPr>
            <a:r>
              <a:rPr lang="de-DE" dirty="0"/>
              <a:t>Skeletterkennung statt Personenerkennung</a:t>
            </a:r>
          </a:p>
          <a:p>
            <a:pPr marL="171450" indent="-171450">
              <a:buFontTx/>
              <a:buChar char="-"/>
            </a:pPr>
            <a:r>
              <a:rPr lang="de-DE" dirty="0"/>
              <a:t>Skeletterkennung erkennt auch halbverdeckte Personen</a:t>
            </a:r>
          </a:p>
          <a:p>
            <a:pPr marL="171450" indent="-171450">
              <a:buFontTx/>
              <a:buChar char="-"/>
            </a:pPr>
            <a:endParaRPr lang="de-DE" dirty="0"/>
          </a:p>
          <a:p>
            <a:pPr marL="171450" indent="-171450">
              <a:buFontTx/>
              <a:buChar char="-"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594C0A-EA0F-4618-8CBA-F066B24EF7D1}" type="slidenum">
              <a:rPr lang="de-DE" altLang="de-DE" smtClean="0"/>
              <a:pPr/>
              <a:t>4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7967945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Erstellen einer objektorientierten, eventbasierten Datenstruktur, die Daten über den/die User sammelt</a:t>
            </a:r>
          </a:p>
          <a:p>
            <a:r>
              <a:rPr lang="de-DE" dirty="0"/>
              <a:t>Darüber werden Bestimmte Klassen an Bewegungen erkannt.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GCS wird gestartet wenn für eine bestimmte Zeit nur ein User erkannt wird </a:t>
            </a:r>
          </a:p>
          <a:p>
            <a:endParaRPr lang="de-DE" dirty="0"/>
          </a:p>
          <a:p>
            <a:r>
              <a:rPr lang="de-DE" dirty="0"/>
              <a:t>Bereits erkannte Skelette sollen wiedererkannt werden, nachdem sie das Bild verlassen haben</a:t>
            </a:r>
          </a:p>
          <a:p>
            <a:r>
              <a:rPr lang="de-DE" dirty="0" err="1"/>
              <a:t>Nuitrack</a:t>
            </a:r>
            <a:r>
              <a:rPr lang="de-DE" dirty="0"/>
              <a:t> kann theoretisch sechs Menschen in einem Bild tracken</a:t>
            </a:r>
          </a:p>
          <a:p>
            <a:r>
              <a:rPr lang="de-DE" dirty="0"/>
              <a:t>Lösung:</a:t>
            </a:r>
          </a:p>
          <a:p>
            <a:pPr marL="171450" indent="-171450">
              <a:buFontTx/>
              <a:buChar char="-"/>
            </a:pPr>
            <a:r>
              <a:rPr lang="de-DE" dirty="0"/>
              <a:t>Die User </a:t>
            </a:r>
            <a:r>
              <a:rPr lang="de-DE" dirty="0" err="1"/>
              <a:t>objekte</a:t>
            </a:r>
            <a:r>
              <a:rPr lang="de-DE" dirty="0"/>
              <a:t> werden anhand der Face-ID eindeutig bestimmt. </a:t>
            </a:r>
          </a:p>
          <a:p>
            <a:pPr marL="0" indent="0">
              <a:buFontTx/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594C0A-EA0F-4618-8CBA-F066B24EF7D1}" type="slidenum">
              <a:rPr lang="de-DE" altLang="de-DE" smtClean="0"/>
              <a:pPr/>
              <a:t>6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9301589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Ausblick</a:t>
            </a:r>
          </a:p>
          <a:p>
            <a:r>
              <a:rPr lang="de-DE" dirty="0"/>
              <a:t>Schnittstellen definieren</a:t>
            </a:r>
          </a:p>
          <a:p>
            <a:r>
              <a:rPr lang="de-DE" dirty="0"/>
              <a:t>Entwicklung eines modularen Systems zur Bewertung des GCS</a:t>
            </a:r>
          </a:p>
          <a:p>
            <a:r>
              <a:rPr lang="de-DE" dirty="0"/>
              <a:t>Modul nach DRZ-Standard zur Montage auf Rettungsroboter. </a:t>
            </a:r>
          </a:p>
          <a:p>
            <a:pPr marL="171450" indent="-171450">
              <a:buFontTx/>
              <a:buChar char="-"/>
            </a:pPr>
            <a:r>
              <a:rPr lang="de-DE" dirty="0"/>
              <a:t>Intel Realsense Tiefenkamera</a:t>
            </a:r>
          </a:p>
          <a:p>
            <a:pPr marL="171450" indent="-171450">
              <a:buFontTx/>
              <a:buChar char="-"/>
            </a:pPr>
            <a:r>
              <a:rPr lang="de-DE" dirty="0" err="1"/>
              <a:t>ReSpeaker</a:t>
            </a:r>
            <a:r>
              <a:rPr lang="de-DE" dirty="0"/>
              <a:t> mit </a:t>
            </a:r>
            <a:r>
              <a:rPr lang="de-DE" dirty="0" err="1"/>
              <a:t>Mikrophonarray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Intel </a:t>
            </a:r>
            <a:r>
              <a:rPr lang="de-DE" dirty="0" err="1"/>
              <a:t>Nuc</a:t>
            </a:r>
            <a:r>
              <a:rPr lang="de-DE" dirty="0"/>
              <a:t> mit Ubuntu Server 22 LTS zur Datenverarbeitung und </a:t>
            </a:r>
            <a:r>
              <a:rPr lang="de-DE" dirty="0" err="1"/>
              <a:t>Logging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Docker </a:t>
            </a:r>
            <a:r>
              <a:rPr lang="de-DE" dirty="0" err="1"/>
              <a:t>container</a:t>
            </a:r>
            <a:r>
              <a:rPr lang="de-DE" dirty="0"/>
              <a:t> per VPN Zugang (?)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594C0A-EA0F-4618-8CBA-F066B24EF7D1}" type="slidenum">
              <a:rPr lang="de-DE" altLang="de-DE" smtClean="0"/>
              <a:pPr/>
              <a:t>7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968877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8" name="Untertitel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320976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Bild ob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17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88" b="10548"/>
          <a:stretch>
            <a:fillRect/>
          </a:stretch>
        </p:blipFill>
        <p:spPr bwMode="auto">
          <a:xfrm>
            <a:off x="119063" y="908050"/>
            <a:ext cx="11953875" cy="183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8"/>
          <p:cNvSpPr>
            <a:spLocks noChangeArrowheads="1"/>
          </p:cNvSpPr>
          <p:nvPr userDrawn="1"/>
        </p:nvSpPr>
        <p:spPr bwMode="auto">
          <a:xfrm flipV="1">
            <a:off x="119063" y="2741613"/>
            <a:ext cx="11953875" cy="460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9pPr>
          </a:lstStyle>
          <a:p>
            <a:pPr eaLnBrk="1" hangingPunct="1">
              <a:defRPr/>
            </a:pPr>
            <a:endParaRPr lang="de-DE" altLang="de-DE"/>
          </a:p>
        </p:txBody>
      </p:sp>
      <p:sp>
        <p:nvSpPr>
          <p:cNvPr id="7" name="Titel 1"/>
          <p:cNvSpPr>
            <a:spLocks noGrp="1"/>
          </p:cNvSpPr>
          <p:nvPr>
            <p:ph type="ctrTitle"/>
          </p:nvPr>
        </p:nvSpPr>
        <p:spPr>
          <a:xfrm>
            <a:off x="914400" y="3387534"/>
            <a:ext cx="10363200" cy="14700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8" name="Untertitel 2"/>
          <p:cNvSpPr>
            <a:spLocks noGrp="1"/>
          </p:cNvSpPr>
          <p:nvPr>
            <p:ph type="subTitle" idx="1"/>
          </p:nvPr>
        </p:nvSpPr>
        <p:spPr>
          <a:xfrm>
            <a:off x="1828664" y="4857559"/>
            <a:ext cx="8534400" cy="14700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pic>
        <p:nvPicPr>
          <p:cNvPr id="2" name="Grafik 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8" t="38880" r="-2" b="40912"/>
          <a:stretch/>
        </p:blipFill>
        <p:spPr>
          <a:xfrm>
            <a:off x="119062" y="908050"/>
            <a:ext cx="11953875" cy="1833563"/>
          </a:xfrm>
          <a:prstGeom prst="rect">
            <a:avLst/>
          </a:prstGeom>
        </p:spPr>
      </p:pic>
      <p:pic>
        <p:nvPicPr>
          <p:cNvPr id="11" name="Grafik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19" t="38880" r="-2" b="40912"/>
          <a:stretch/>
        </p:blipFill>
        <p:spPr>
          <a:xfrm>
            <a:off x="119061" y="908050"/>
            <a:ext cx="9433870" cy="1833563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 userDrawn="1"/>
        </p:nvPicPr>
        <p:blipFill rotWithShape="1">
          <a:blip r:embed="rId4">
            <a:clrChange>
              <a:clrFrom>
                <a:srgbClr val="6A817E"/>
              </a:clrFrom>
              <a:clrTo>
                <a:srgbClr val="6A817E">
                  <a:alpha val="0"/>
                </a:srgbClr>
              </a:clrTo>
            </a:clrChange>
          </a:blip>
          <a:srcRect l="25375" t="49146" r="48703" b="43620"/>
          <a:stretch/>
        </p:blipFill>
        <p:spPr>
          <a:xfrm>
            <a:off x="5231904" y="908050"/>
            <a:ext cx="6841033" cy="1833563"/>
          </a:xfrm>
          <a:prstGeom prst="rect">
            <a:avLst/>
          </a:prstGeom>
        </p:spPr>
      </p:pic>
      <p:pic>
        <p:nvPicPr>
          <p:cNvPr id="12" name="Grafik 11"/>
          <p:cNvPicPr>
            <a:picLocks noChangeAspect="1"/>
          </p:cNvPicPr>
          <p:nvPr userDrawn="1"/>
        </p:nvPicPr>
        <p:blipFill rotWithShape="1">
          <a:blip r:embed="rId4">
            <a:clrChange>
              <a:clrFrom>
                <a:srgbClr val="6A817E"/>
              </a:clrFrom>
              <a:clrTo>
                <a:srgbClr val="6A817E">
                  <a:alpha val="0"/>
                </a:srgbClr>
              </a:clrTo>
            </a:clrChange>
          </a:blip>
          <a:srcRect l="38607" t="54257" r="54572" b="44035"/>
          <a:stretch/>
        </p:blipFill>
        <p:spPr>
          <a:xfrm>
            <a:off x="9624392" y="908050"/>
            <a:ext cx="1800200" cy="576733"/>
          </a:xfrm>
          <a:prstGeom prst="rect">
            <a:avLst/>
          </a:prstGeom>
        </p:spPr>
      </p:pic>
      <p:pic>
        <p:nvPicPr>
          <p:cNvPr id="13" name="Grafik 12"/>
          <p:cNvPicPr>
            <a:picLocks noChangeAspect="1"/>
          </p:cNvPicPr>
          <p:nvPr userDrawn="1"/>
        </p:nvPicPr>
        <p:blipFill rotWithShape="1">
          <a:blip r:embed="rId4">
            <a:clrChange>
              <a:clrFrom>
                <a:srgbClr val="6A817E"/>
              </a:clrFrom>
              <a:clrTo>
                <a:srgbClr val="6A817E">
                  <a:alpha val="0"/>
                </a:srgbClr>
              </a:clrTo>
            </a:clrChange>
          </a:blip>
          <a:srcRect l="43657" t="51146" r="50886" b="45161"/>
          <a:stretch/>
        </p:blipFill>
        <p:spPr>
          <a:xfrm>
            <a:off x="8905132" y="1006007"/>
            <a:ext cx="2519460" cy="1637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950608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Bild u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17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88" b="10548"/>
          <a:stretch>
            <a:fillRect/>
          </a:stretch>
        </p:blipFill>
        <p:spPr bwMode="auto">
          <a:xfrm>
            <a:off x="119063" y="4941888"/>
            <a:ext cx="11953875" cy="183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8"/>
          <p:cNvSpPr>
            <a:spLocks noChangeArrowheads="1"/>
          </p:cNvSpPr>
          <p:nvPr userDrawn="1"/>
        </p:nvSpPr>
        <p:spPr bwMode="auto">
          <a:xfrm flipV="1">
            <a:off x="119063" y="4895850"/>
            <a:ext cx="11953875" cy="460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9pPr>
          </a:lstStyle>
          <a:p>
            <a:pPr eaLnBrk="1" hangingPunct="1">
              <a:defRPr/>
            </a:pPr>
            <a:endParaRPr lang="de-DE" altLang="de-DE"/>
          </a:p>
        </p:txBody>
      </p:sp>
      <p:pic>
        <p:nvPicPr>
          <p:cNvPr id="6" name="Picture 53" descr="Logo_Im_Focus_A0"/>
          <p:cNvPicPr>
            <a:picLocks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6200" y="4697413"/>
            <a:ext cx="1403350" cy="8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el 1"/>
          <p:cNvSpPr>
            <a:spLocks noGrp="1"/>
          </p:cNvSpPr>
          <p:nvPr>
            <p:ph type="ctrTitle"/>
          </p:nvPr>
        </p:nvSpPr>
        <p:spPr>
          <a:xfrm>
            <a:off x="914400" y="1592220"/>
            <a:ext cx="10363200" cy="14700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8" name="Untertitel 2"/>
          <p:cNvSpPr>
            <a:spLocks noGrp="1"/>
          </p:cNvSpPr>
          <p:nvPr>
            <p:ph type="subTitle" idx="1"/>
          </p:nvPr>
        </p:nvSpPr>
        <p:spPr>
          <a:xfrm>
            <a:off x="1828664" y="3062245"/>
            <a:ext cx="8534400" cy="14700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pic>
        <p:nvPicPr>
          <p:cNvPr id="2" name="Grafik 1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" t="50000" b="21670"/>
          <a:stretch/>
        </p:blipFill>
        <p:spPr>
          <a:xfrm>
            <a:off x="119062" y="4941888"/>
            <a:ext cx="8811723" cy="1831975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922" t="50000" r="-1" b="21670"/>
          <a:stretch/>
        </p:blipFill>
        <p:spPr>
          <a:xfrm>
            <a:off x="8472264" y="4936134"/>
            <a:ext cx="3600674" cy="1837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296407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/>
          <p:cNvSpPr>
            <a:spLocks noGrp="1"/>
          </p:cNvSpPr>
          <p:nvPr>
            <p:ph type="title"/>
          </p:nvPr>
        </p:nvSpPr>
        <p:spPr>
          <a:xfrm>
            <a:off x="550863" y="1341438"/>
            <a:ext cx="11090275" cy="1143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11" name="Inhaltsplatzhalter 2"/>
          <p:cNvSpPr>
            <a:spLocks noGrp="1"/>
          </p:cNvSpPr>
          <p:nvPr>
            <p:ph idx="1"/>
          </p:nvPr>
        </p:nvSpPr>
        <p:spPr>
          <a:xfrm>
            <a:off x="550863" y="2638425"/>
            <a:ext cx="11090275" cy="36703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5E7563-B475-46CA-BD76-09B375C08167}" type="datetime1">
              <a:rPr lang="en-GB" altLang="de-DE"/>
              <a:pPr>
                <a:defRPr/>
              </a:pPr>
              <a:t>06/03/2023</a:t>
            </a:fld>
            <a:endParaRPr lang="de-DE" altLang="de-DE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de-DE"/>
              <a:t>Additional Information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5F8EFE-68E8-4435-BED3-2433080F5834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616330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/>
          <p:cNvSpPr>
            <a:spLocks noGrp="1"/>
          </p:cNvSpPr>
          <p:nvPr>
            <p:ph type="title"/>
          </p:nvPr>
        </p:nvSpPr>
        <p:spPr>
          <a:xfrm>
            <a:off x="917781" y="4406905"/>
            <a:ext cx="10363200" cy="1362075"/>
          </a:xfrm>
          <a:prstGeom prst="rect">
            <a:avLst/>
          </a:prstGeo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11" name="Textplatzhalter 2"/>
          <p:cNvSpPr>
            <a:spLocks noGrp="1"/>
          </p:cNvSpPr>
          <p:nvPr>
            <p:ph type="body" idx="1"/>
          </p:nvPr>
        </p:nvSpPr>
        <p:spPr>
          <a:xfrm>
            <a:off x="914400" y="2906718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940943-70BA-480D-9FCF-D1A0DA242731}" type="datetime1">
              <a:rPr lang="en-GB" altLang="de-DE"/>
              <a:pPr>
                <a:defRPr/>
              </a:pPr>
              <a:t>06/03/2023</a:t>
            </a:fld>
            <a:endParaRPr lang="de-DE" altLang="de-DE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de-DE"/>
              <a:t>Additional Information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322274-CB1C-4532-8325-DBB1B3DC46DC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373649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/>
          <p:cNvSpPr>
            <a:spLocks noGrp="1"/>
          </p:cNvSpPr>
          <p:nvPr>
            <p:ph type="title"/>
          </p:nvPr>
        </p:nvSpPr>
        <p:spPr>
          <a:xfrm>
            <a:off x="550863" y="1341438"/>
            <a:ext cx="11090275" cy="1143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12" name="Inhaltsplatzhalter 2"/>
          <p:cNvSpPr>
            <a:spLocks noGrp="1"/>
          </p:cNvSpPr>
          <p:nvPr>
            <p:ph sz="half" idx="1"/>
          </p:nvPr>
        </p:nvSpPr>
        <p:spPr>
          <a:xfrm>
            <a:off x="550863" y="2638425"/>
            <a:ext cx="5446800" cy="36703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Inhaltsplatzhalter 3"/>
          <p:cNvSpPr>
            <a:spLocks noGrp="1"/>
          </p:cNvSpPr>
          <p:nvPr>
            <p:ph sz="half" idx="2"/>
          </p:nvPr>
        </p:nvSpPr>
        <p:spPr>
          <a:xfrm>
            <a:off x="6194339" y="2638425"/>
            <a:ext cx="5446800" cy="36703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47F69E-DF1B-43FD-82D9-10161CD575BE}" type="datetime1">
              <a:rPr lang="en-GB" altLang="de-DE"/>
              <a:pPr>
                <a:defRPr/>
              </a:pPr>
              <a:t>06/03/2023</a:t>
            </a:fld>
            <a:endParaRPr lang="de-DE" altLang="de-DE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de-DE"/>
              <a:t>Additional Information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4DF7D7-123B-40A3-9D2D-433BC1E7E1D8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884394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2"/>
          <p:cNvSpPr>
            <a:spLocks noGrp="1"/>
          </p:cNvSpPr>
          <p:nvPr>
            <p:ph type="body" idx="1"/>
          </p:nvPr>
        </p:nvSpPr>
        <p:spPr>
          <a:xfrm>
            <a:off x="550864" y="2601913"/>
            <a:ext cx="5445654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4" name="Inhaltsplatzhalter 3"/>
          <p:cNvSpPr>
            <a:spLocks noGrp="1"/>
          </p:cNvSpPr>
          <p:nvPr>
            <p:ph sz="half" idx="2"/>
          </p:nvPr>
        </p:nvSpPr>
        <p:spPr>
          <a:xfrm>
            <a:off x="550864" y="3241675"/>
            <a:ext cx="5445654" cy="306764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70" y="2601913"/>
            <a:ext cx="5445654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6" name="Inhaltsplatzhalter 5"/>
          <p:cNvSpPr>
            <a:spLocks noGrp="1"/>
          </p:cNvSpPr>
          <p:nvPr>
            <p:ph sz="quarter" idx="4"/>
          </p:nvPr>
        </p:nvSpPr>
        <p:spPr>
          <a:xfrm>
            <a:off x="6193370" y="3241675"/>
            <a:ext cx="5445654" cy="306764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7" name="Titel 1"/>
          <p:cNvSpPr>
            <a:spLocks noGrp="1"/>
          </p:cNvSpPr>
          <p:nvPr>
            <p:ph type="title"/>
          </p:nvPr>
        </p:nvSpPr>
        <p:spPr>
          <a:xfrm>
            <a:off x="550863" y="1341438"/>
            <a:ext cx="11090275" cy="1143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E16BAF-9453-41FF-B322-85D3F5B01FE1}" type="datetime1">
              <a:rPr lang="en-GB" altLang="de-DE"/>
              <a:pPr>
                <a:defRPr/>
              </a:pPr>
              <a:t>06/03/2023</a:t>
            </a:fld>
            <a:endParaRPr lang="de-DE" altLang="de-DE" dirty="0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de-DE"/>
              <a:t>Additional Information</a:t>
            </a: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4D547F-7CC5-4BD5-AFEF-F2EBA8B15EE9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259512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1"/>
          <p:cNvSpPr>
            <a:spLocks noGrp="1"/>
          </p:cNvSpPr>
          <p:nvPr>
            <p:ph type="title"/>
          </p:nvPr>
        </p:nvSpPr>
        <p:spPr>
          <a:xfrm>
            <a:off x="550863" y="1341438"/>
            <a:ext cx="11090275" cy="1143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8F61C-BC07-43F1-B0EC-268F8C5346A9}" type="datetime1">
              <a:rPr lang="en-GB" altLang="de-DE"/>
              <a:pPr>
                <a:defRPr/>
              </a:pPr>
              <a:t>06/03/2023</a:t>
            </a:fld>
            <a:endParaRPr lang="de-DE" altLang="de-DE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de-DE"/>
              <a:t>Additional Information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9E8B0F3-A6EA-48AD-9A1E-E29B252B559D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784540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482932-6310-4B0E-9C38-FFF472CAEDE4}" type="datetime1">
              <a:rPr lang="en-GB" altLang="de-DE"/>
              <a:pPr>
                <a:defRPr/>
              </a:pPr>
              <a:t>06/03/2023</a:t>
            </a:fld>
            <a:endParaRPr lang="de-DE" altLang="de-DE" dirty="0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de-DE"/>
              <a:t>Additional Information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30333F-F771-4D9A-967D-4C66BA86F363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091991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/>
          <p:cNvSpPr>
            <a:spLocks noGrp="1"/>
          </p:cNvSpPr>
          <p:nvPr>
            <p:ph type="title"/>
          </p:nvPr>
        </p:nvSpPr>
        <p:spPr>
          <a:xfrm>
            <a:off x="550863" y="1341438"/>
            <a:ext cx="4069821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12" name="Inhaltsplatzhalter 2"/>
          <p:cNvSpPr>
            <a:spLocks noGrp="1"/>
          </p:cNvSpPr>
          <p:nvPr>
            <p:ph idx="1"/>
          </p:nvPr>
        </p:nvSpPr>
        <p:spPr>
          <a:xfrm>
            <a:off x="4766733" y="1341438"/>
            <a:ext cx="6874405" cy="496788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Textplatzhalter 3"/>
          <p:cNvSpPr>
            <a:spLocks noGrp="1"/>
          </p:cNvSpPr>
          <p:nvPr>
            <p:ph type="body" sz="half" idx="2"/>
          </p:nvPr>
        </p:nvSpPr>
        <p:spPr>
          <a:xfrm>
            <a:off x="550863" y="2503488"/>
            <a:ext cx="4069824" cy="38058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AE3B3E-5524-402F-85D1-FCE2AA2CE3C3}" type="datetime1">
              <a:rPr lang="en-GB" altLang="de-DE"/>
              <a:pPr>
                <a:defRPr/>
              </a:pPr>
              <a:t>06/03/2023</a:t>
            </a:fld>
            <a:endParaRPr lang="de-DE" altLang="de-DE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de-DE"/>
              <a:t>Additional Information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2ACF05-AFE3-4DB4-98E2-6900B54D4DC0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038553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3"/>
          <p:cNvSpPr>
            <a:spLocks noGrp="1"/>
          </p:cNvSpPr>
          <p:nvPr>
            <p:ph type="body" sz="half" idx="2"/>
          </p:nvPr>
        </p:nvSpPr>
        <p:spPr>
          <a:xfrm>
            <a:off x="2438400" y="5367338"/>
            <a:ext cx="7315200" cy="9419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2" name="Bildplatzhalter 2"/>
          <p:cNvSpPr>
            <a:spLocks noGrp="1"/>
          </p:cNvSpPr>
          <p:nvPr>
            <p:ph type="pic" idx="1"/>
          </p:nvPr>
        </p:nvSpPr>
        <p:spPr>
          <a:xfrm>
            <a:off x="2438400" y="1340768"/>
            <a:ext cx="7315200" cy="33861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/>
          </a:p>
        </p:txBody>
      </p:sp>
      <p:sp>
        <p:nvSpPr>
          <p:cNvPr id="13" name="Titel 1"/>
          <p:cNvSpPr>
            <a:spLocks noGrp="1"/>
          </p:cNvSpPr>
          <p:nvPr>
            <p:ph type="title"/>
          </p:nvPr>
        </p:nvSpPr>
        <p:spPr>
          <a:xfrm>
            <a:off x="2438400" y="4804008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F3C83B-A962-4C27-9684-3972586FAB2B}" type="datetime1">
              <a:rPr lang="en-GB" altLang="de-DE"/>
              <a:pPr>
                <a:defRPr/>
              </a:pPr>
              <a:t>06/03/2023</a:t>
            </a:fld>
            <a:endParaRPr lang="de-DE" altLang="de-DE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de-DE"/>
              <a:t>Additional Information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4012D6-F39C-4FC5-AD7C-4F6826C8658D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2937043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/>
          <p:cNvSpPr>
            <a:spLocks noGrp="1"/>
          </p:cNvSpPr>
          <p:nvPr>
            <p:ph type="title"/>
          </p:nvPr>
        </p:nvSpPr>
        <p:spPr>
          <a:xfrm>
            <a:off x="550863" y="1341438"/>
            <a:ext cx="11090275" cy="1143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11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550863" y="2638425"/>
            <a:ext cx="11090275" cy="36703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055B84-DFE3-4151-8D7B-A2250A361AFD}" type="datetime1">
              <a:rPr lang="en-GB" altLang="de-DE"/>
              <a:pPr>
                <a:defRPr/>
              </a:pPr>
              <a:t>06/03/2023</a:t>
            </a:fld>
            <a:endParaRPr lang="de-DE" altLang="de-DE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de-DE"/>
              <a:t>Additional Information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B6584C-D690-4AFD-9BAE-9442F28BC343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4682128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kaler Titel 1"/>
          <p:cNvSpPr>
            <a:spLocks noGrp="1"/>
          </p:cNvSpPr>
          <p:nvPr>
            <p:ph type="title" orient="vert"/>
          </p:nvPr>
        </p:nvSpPr>
        <p:spPr>
          <a:xfrm>
            <a:off x="8867250" y="1340768"/>
            <a:ext cx="2770716" cy="4967287"/>
          </a:xfrm>
          <a:prstGeom prst="rect">
            <a:avLst/>
          </a:prstGeo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11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550863" y="1340768"/>
            <a:ext cx="8113184" cy="49672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0A2948-B007-4126-9138-8552215E8BB5}" type="datetime1">
              <a:rPr lang="en-GB" altLang="de-DE"/>
              <a:pPr>
                <a:defRPr/>
              </a:pPr>
              <a:t>06/03/2023</a:t>
            </a:fld>
            <a:endParaRPr lang="de-DE" altLang="de-DE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de-DE"/>
              <a:t>Additional Information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4D3601-AF06-46FB-A3D9-C6EDAC708D75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7826075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8" name="Untertitel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6848606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>
            <a:spLocks noGrp="1"/>
          </p:cNvSpPr>
          <p:nvPr>
            <p:ph type="title"/>
          </p:nvPr>
        </p:nvSpPr>
        <p:spPr>
          <a:xfrm>
            <a:off x="550863" y="1341438"/>
            <a:ext cx="11090275" cy="1143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8" name="Inhaltsplatzhalter 2"/>
          <p:cNvSpPr>
            <a:spLocks noGrp="1"/>
          </p:cNvSpPr>
          <p:nvPr>
            <p:ph idx="1"/>
          </p:nvPr>
        </p:nvSpPr>
        <p:spPr>
          <a:xfrm>
            <a:off x="550863" y="2638425"/>
            <a:ext cx="11090275" cy="36703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1FE5C3-FC9A-448F-96DF-F31BC74AA975}" type="datetime1">
              <a:rPr lang="en-GB" altLang="de-DE"/>
              <a:pPr>
                <a:defRPr/>
              </a:pPr>
              <a:t>06/03/2023</a:t>
            </a:fld>
            <a:endParaRPr lang="de-DE" altLang="de-DE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de-DE"/>
              <a:t>Additional Information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23B2FD-43E0-458D-B6B7-251C5563D583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4120022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>
            <a:spLocks noGrp="1"/>
          </p:cNvSpPr>
          <p:nvPr>
            <p:ph type="title"/>
          </p:nvPr>
        </p:nvSpPr>
        <p:spPr>
          <a:xfrm>
            <a:off x="917781" y="4406905"/>
            <a:ext cx="10363200" cy="1362075"/>
          </a:xfrm>
          <a:prstGeom prst="rect">
            <a:avLst/>
          </a:prstGeo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8" name="Textplatzhalter 2"/>
          <p:cNvSpPr>
            <a:spLocks noGrp="1"/>
          </p:cNvSpPr>
          <p:nvPr>
            <p:ph type="body" idx="1"/>
          </p:nvPr>
        </p:nvSpPr>
        <p:spPr>
          <a:xfrm>
            <a:off x="914400" y="2906718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BD32F0-499A-46DA-A311-DAAB99B953D2}" type="datetime1">
              <a:rPr lang="en-GB" altLang="de-DE"/>
              <a:pPr>
                <a:defRPr/>
              </a:pPr>
              <a:t>06/03/2023</a:t>
            </a:fld>
            <a:endParaRPr lang="de-DE" altLang="de-DE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de-DE"/>
              <a:t>Additional Information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A08CA7-4252-4B27-A0AA-3AD5359A92B9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6892537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550863" y="1341438"/>
            <a:ext cx="11090275" cy="1143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9" name="Inhaltsplatzhalter 2"/>
          <p:cNvSpPr>
            <a:spLocks noGrp="1"/>
          </p:cNvSpPr>
          <p:nvPr>
            <p:ph sz="half" idx="1"/>
          </p:nvPr>
        </p:nvSpPr>
        <p:spPr>
          <a:xfrm>
            <a:off x="550863" y="2638425"/>
            <a:ext cx="5446800" cy="36703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Inhaltsplatzhalter 3"/>
          <p:cNvSpPr>
            <a:spLocks noGrp="1"/>
          </p:cNvSpPr>
          <p:nvPr>
            <p:ph sz="half" idx="2"/>
          </p:nvPr>
        </p:nvSpPr>
        <p:spPr>
          <a:xfrm>
            <a:off x="6194339" y="2638425"/>
            <a:ext cx="5446800" cy="36703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E420B-D53D-4119-B3F6-48F36AD58B1E}" type="datetime1">
              <a:rPr lang="en-GB" altLang="de-DE"/>
              <a:pPr>
                <a:defRPr/>
              </a:pPr>
              <a:t>06/03/2023</a:t>
            </a:fld>
            <a:endParaRPr lang="de-DE" altLang="de-DE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de-DE"/>
              <a:t>Additional Information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2E6E0E-82FF-4026-95B9-5110984EF721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7635158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platzhalter 2"/>
          <p:cNvSpPr>
            <a:spLocks noGrp="1"/>
          </p:cNvSpPr>
          <p:nvPr>
            <p:ph type="body" idx="1"/>
          </p:nvPr>
        </p:nvSpPr>
        <p:spPr>
          <a:xfrm>
            <a:off x="550864" y="2601913"/>
            <a:ext cx="5445654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6" name="Inhaltsplatzhalter 3"/>
          <p:cNvSpPr>
            <a:spLocks noGrp="1"/>
          </p:cNvSpPr>
          <p:nvPr>
            <p:ph sz="half" idx="2"/>
          </p:nvPr>
        </p:nvSpPr>
        <p:spPr>
          <a:xfrm>
            <a:off x="550864" y="3241675"/>
            <a:ext cx="5445654" cy="306764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7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70" y="2601913"/>
            <a:ext cx="5445654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8" name="Inhaltsplatzhalter 5"/>
          <p:cNvSpPr>
            <a:spLocks noGrp="1"/>
          </p:cNvSpPr>
          <p:nvPr>
            <p:ph sz="quarter" idx="4"/>
          </p:nvPr>
        </p:nvSpPr>
        <p:spPr>
          <a:xfrm>
            <a:off x="6193370" y="3241675"/>
            <a:ext cx="5445654" cy="306764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9" name="Titel 1"/>
          <p:cNvSpPr>
            <a:spLocks noGrp="1"/>
          </p:cNvSpPr>
          <p:nvPr>
            <p:ph type="title"/>
          </p:nvPr>
        </p:nvSpPr>
        <p:spPr>
          <a:xfrm>
            <a:off x="550863" y="1341438"/>
            <a:ext cx="11090275" cy="1143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6608A9-9BD8-41DB-B874-62105966C6A7}" type="datetime1">
              <a:rPr lang="en-GB" altLang="de-DE"/>
              <a:pPr>
                <a:defRPr/>
              </a:pPr>
              <a:t>06/03/2023</a:t>
            </a:fld>
            <a:endParaRPr lang="de-DE" altLang="de-DE" dirty="0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de-DE"/>
              <a:t>Additional Information</a:t>
            </a: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E28331-CC81-4AE7-9453-BC86B2C063CC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8727691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/>
          <p:cNvSpPr>
            <a:spLocks noGrp="1"/>
          </p:cNvSpPr>
          <p:nvPr>
            <p:ph type="title"/>
          </p:nvPr>
        </p:nvSpPr>
        <p:spPr>
          <a:xfrm>
            <a:off x="550863" y="1341438"/>
            <a:ext cx="11090275" cy="1143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A4B085-AA3E-481B-BA06-0D68303D9463}" type="datetime1">
              <a:rPr lang="en-GB" altLang="de-DE"/>
              <a:pPr>
                <a:defRPr/>
              </a:pPr>
              <a:t>06/03/2023</a:t>
            </a:fld>
            <a:endParaRPr lang="de-DE" altLang="de-DE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de-DE"/>
              <a:t>Additional Information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8BBA2A4-09DD-404B-AC4F-5E82DD119406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1964100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978EF1-3565-479F-98D3-44D9A8E6D980}" type="datetime1">
              <a:rPr lang="en-GB" altLang="de-DE"/>
              <a:pPr>
                <a:defRPr/>
              </a:pPr>
              <a:t>06/03/2023</a:t>
            </a:fld>
            <a:endParaRPr lang="de-DE" altLang="de-DE" dirty="0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de-DE"/>
              <a:t>Additional Information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5CDB073-D903-456A-AD4A-4D76FF104D70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1846402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550863" y="1341438"/>
            <a:ext cx="4069821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Inhaltsplatzhalter 2"/>
          <p:cNvSpPr>
            <a:spLocks noGrp="1"/>
          </p:cNvSpPr>
          <p:nvPr>
            <p:ph idx="1"/>
          </p:nvPr>
        </p:nvSpPr>
        <p:spPr>
          <a:xfrm>
            <a:off x="4766733" y="1341438"/>
            <a:ext cx="6874405" cy="496788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Textplatzhalter 3"/>
          <p:cNvSpPr>
            <a:spLocks noGrp="1"/>
          </p:cNvSpPr>
          <p:nvPr>
            <p:ph type="body" sz="half" idx="2"/>
          </p:nvPr>
        </p:nvSpPr>
        <p:spPr>
          <a:xfrm>
            <a:off x="550863" y="2503488"/>
            <a:ext cx="4069824" cy="38058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7CC870-D321-4776-927C-C43577350059}" type="datetime1">
              <a:rPr lang="en-GB" altLang="de-DE"/>
              <a:pPr>
                <a:defRPr/>
              </a:pPr>
              <a:t>06/03/2023</a:t>
            </a:fld>
            <a:endParaRPr lang="de-DE" altLang="de-DE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de-DE"/>
              <a:t>Additional Information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788F60-DD09-42B3-8AA2-325765E5CD83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1653095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3"/>
          <p:cNvSpPr>
            <a:spLocks noGrp="1"/>
          </p:cNvSpPr>
          <p:nvPr>
            <p:ph type="body" sz="half" idx="2"/>
          </p:nvPr>
        </p:nvSpPr>
        <p:spPr>
          <a:xfrm>
            <a:off x="2438400" y="5367338"/>
            <a:ext cx="7315200" cy="9419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9" name="Bildplatzhalter 2"/>
          <p:cNvSpPr>
            <a:spLocks noGrp="1"/>
          </p:cNvSpPr>
          <p:nvPr>
            <p:ph type="pic" idx="1"/>
          </p:nvPr>
        </p:nvSpPr>
        <p:spPr>
          <a:xfrm>
            <a:off x="2438400" y="1340768"/>
            <a:ext cx="7315200" cy="33861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/>
          </a:p>
        </p:txBody>
      </p:sp>
      <p:sp>
        <p:nvSpPr>
          <p:cNvPr id="10" name="Titel 1"/>
          <p:cNvSpPr>
            <a:spLocks noGrp="1"/>
          </p:cNvSpPr>
          <p:nvPr>
            <p:ph type="title"/>
          </p:nvPr>
        </p:nvSpPr>
        <p:spPr>
          <a:xfrm>
            <a:off x="2438400" y="4804008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5B5C9E-58BF-4AEF-81EF-28A8C985FADC}" type="datetime1">
              <a:rPr lang="en-GB" altLang="de-DE"/>
              <a:pPr>
                <a:defRPr/>
              </a:pPr>
              <a:t>06/03/2023</a:t>
            </a:fld>
            <a:endParaRPr lang="de-DE" altLang="de-DE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de-DE"/>
              <a:t>Additional Information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874AE3-A043-4607-9526-5E12EA0AEC3F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9144923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>
            <a:spLocks noGrp="1"/>
          </p:cNvSpPr>
          <p:nvPr>
            <p:ph type="title"/>
          </p:nvPr>
        </p:nvSpPr>
        <p:spPr>
          <a:xfrm>
            <a:off x="550863" y="1341438"/>
            <a:ext cx="11090275" cy="1143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8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550863" y="2638425"/>
            <a:ext cx="11090275" cy="36703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3BCDB4-7923-4AEA-8AC9-BE1EA80137CA}" type="datetime1">
              <a:rPr lang="en-GB" altLang="de-DE"/>
              <a:pPr>
                <a:defRPr/>
              </a:pPr>
              <a:t>06/03/2023</a:t>
            </a:fld>
            <a:endParaRPr lang="de-DE" altLang="de-DE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de-DE"/>
              <a:t>Additional Information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59D555-DF2F-495E-8919-6E6C7E9B8425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0366542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ertikaler Titel 1"/>
          <p:cNvSpPr>
            <a:spLocks noGrp="1"/>
          </p:cNvSpPr>
          <p:nvPr>
            <p:ph type="title" orient="vert"/>
          </p:nvPr>
        </p:nvSpPr>
        <p:spPr>
          <a:xfrm>
            <a:off x="8867250" y="1340768"/>
            <a:ext cx="2770716" cy="4967287"/>
          </a:xfrm>
          <a:prstGeom prst="rect">
            <a:avLst/>
          </a:prstGeo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8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550863" y="1340768"/>
            <a:ext cx="8113184" cy="49672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2FCCC2-27D5-4E21-9C47-08FD69DFE2B8}" type="datetime1">
              <a:rPr lang="en-GB" altLang="de-DE"/>
              <a:pPr>
                <a:defRPr/>
              </a:pPr>
              <a:t>06/03/2023</a:t>
            </a:fld>
            <a:endParaRPr lang="de-DE" altLang="de-DE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de-DE"/>
              <a:t>Additional Information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55A829C-686F-463F-B52C-31E0B2681774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6940545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12" name="Untertitel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617993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/>
          <p:cNvSpPr>
            <a:spLocks noGrp="1"/>
          </p:cNvSpPr>
          <p:nvPr>
            <p:ph type="title"/>
          </p:nvPr>
        </p:nvSpPr>
        <p:spPr>
          <a:xfrm>
            <a:off x="550863" y="1341438"/>
            <a:ext cx="11090275" cy="1143000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11" name="Inhaltsplatzhalter 2"/>
          <p:cNvSpPr>
            <a:spLocks noGrp="1"/>
          </p:cNvSpPr>
          <p:nvPr>
            <p:ph idx="1"/>
          </p:nvPr>
        </p:nvSpPr>
        <p:spPr>
          <a:xfrm>
            <a:off x="550863" y="2638425"/>
            <a:ext cx="11090275" cy="367030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98AED7-210D-455C-9ADC-48803F2C1180}" type="datetime1">
              <a:rPr lang="en-GB" altLang="de-DE"/>
              <a:pPr>
                <a:defRPr/>
              </a:pPr>
              <a:t>06/03/2023</a:t>
            </a:fld>
            <a:endParaRPr lang="de-DE" altLang="de-DE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de-DE"/>
              <a:t>Additional Information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1D1B4B-031D-44C9-A6C3-32615C1B2756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19156348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/>
          <p:cNvSpPr>
            <a:spLocks noGrp="1"/>
          </p:cNvSpPr>
          <p:nvPr>
            <p:ph type="title"/>
          </p:nvPr>
        </p:nvSpPr>
        <p:spPr>
          <a:xfrm>
            <a:off x="917781" y="4406905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11" name="Textplatzhalter 2"/>
          <p:cNvSpPr>
            <a:spLocks noGrp="1"/>
          </p:cNvSpPr>
          <p:nvPr>
            <p:ph type="body" idx="1"/>
          </p:nvPr>
        </p:nvSpPr>
        <p:spPr>
          <a:xfrm>
            <a:off x="914400" y="2906718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5BF9C9-E8A1-4533-B61A-A633AFFA54FA}" type="datetime1">
              <a:rPr lang="en-GB" altLang="de-DE"/>
              <a:pPr>
                <a:defRPr/>
              </a:pPr>
              <a:t>06/03/2023</a:t>
            </a:fld>
            <a:endParaRPr lang="de-DE" altLang="de-DE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de-DE"/>
              <a:t>Additional Information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F67BFB-B73C-4280-B09E-79F646E469B8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4962069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/>
          <p:cNvSpPr>
            <a:spLocks noGrp="1"/>
          </p:cNvSpPr>
          <p:nvPr>
            <p:ph type="title"/>
          </p:nvPr>
        </p:nvSpPr>
        <p:spPr>
          <a:xfrm>
            <a:off x="550863" y="1341438"/>
            <a:ext cx="11090275" cy="1143000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12" name="Inhaltsplatzhalter 2"/>
          <p:cNvSpPr>
            <a:spLocks noGrp="1"/>
          </p:cNvSpPr>
          <p:nvPr>
            <p:ph sz="half" idx="1"/>
          </p:nvPr>
        </p:nvSpPr>
        <p:spPr>
          <a:xfrm>
            <a:off x="550863" y="2638425"/>
            <a:ext cx="5446800" cy="3670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Inhaltsplatzhalter 3"/>
          <p:cNvSpPr>
            <a:spLocks noGrp="1"/>
          </p:cNvSpPr>
          <p:nvPr>
            <p:ph sz="half" idx="2"/>
          </p:nvPr>
        </p:nvSpPr>
        <p:spPr>
          <a:xfrm>
            <a:off x="6194339" y="2638425"/>
            <a:ext cx="5446800" cy="3670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A169A8-5173-4AAE-AE08-4F99E0CF106D}" type="datetime1">
              <a:rPr lang="en-GB" altLang="de-DE"/>
              <a:pPr>
                <a:defRPr/>
              </a:pPr>
              <a:t>06/03/2023</a:t>
            </a:fld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de-DE"/>
              <a:t>Additional Information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563EB2-5BB6-4798-8B73-B6DDA2305DE9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35250759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platzhalter 2"/>
          <p:cNvSpPr>
            <a:spLocks noGrp="1"/>
          </p:cNvSpPr>
          <p:nvPr>
            <p:ph type="body" idx="1"/>
          </p:nvPr>
        </p:nvSpPr>
        <p:spPr>
          <a:xfrm>
            <a:off x="550864" y="2601913"/>
            <a:ext cx="544565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24" name="Inhaltsplatzhalter 3"/>
          <p:cNvSpPr>
            <a:spLocks noGrp="1"/>
          </p:cNvSpPr>
          <p:nvPr>
            <p:ph sz="half" idx="2"/>
          </p:nvPr>
        </p:nvSpPr>
        <p:spPr>
          <a:xfrm>
            <a:off x="550864" y="3241675"/>
            <a:ext cx="5445654" cy="306764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70" y="2601913"/>
            <a:ext cx="544565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26" name="Inhaltsplatzhalter 5"/>
          <p:cNvSpPr>
            <a:spLocks noGrp="1"/>
          </p:cNvSpPr>
          <p:nvPr>
            <p:ph sz="quarter" idx="4"/>
          </p:nvPr>
        </p:nvSpPr>
        <p:spPr>
          <a:xfrm>
            <a:off x="6193370" y="3241675"/>
            <a:ext cx="5445654" cy="306764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7" name="Titel 1"/>
          <p:cNvSpPr>
            <a:spLocks noGrp="1"/>
          </p:cNvSpPr>
          <p:nvPr>
            <p:ph type="title"/>
          </p:nvPr>
        </p:nvSpPr>
        <p:spPr>
          <a:xfrm>
            <a:off x="550863" y="1341438"/>
            <a:ext cx="11090275" cy="1143000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D5A01-EA03-414C-919E-4AF93E734E63}" type="datetime1">
              <a:rPr lang="en-GB" altLang="de-DE"/>
              <a:pPr>
                <a:defRPr/>
              </a:pPr>
              <a:t>06/03/2023</a:t>
            </a:fld>
            <a:endParaRPr lang="de-DE" altLang="de-DE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de-DE"/>
              <a:t>Additional Information</a:t>
            </a: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8240D25-15E2-4C3E-B36B-AAC570691EA9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91087426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1"/>
          <p:cNvSpPr>
            <a:spLocks noGrp="1"/>
          </p:cNvSpPr>
          <p:nvPr>
            <p:ph type="title"/>
          </p:nvPr>
        </p:nvSpPr>
        <p:spPr>
          <a:xfrm>
            <a:off x="550863" y="1341438"/>
            <a:ext cx="11090275" cy="1143000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3784BB-A3F0-4F6C-91C5-2673295A8AE7}" type="datetime1">
              <a:rPr lang="en-GB" altLang="de-DE"/>
              <a:pPr>
                <a:defRPr/>
              </a:pPr>
              <a:t>06/03/2023</a:t>
            </a:fld>
            <a:endParaRPr lang="de-DE" altLang="de-DE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de-DE"/>
              <a:t>Additional Information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4B51E9C-BB01-4467-B34E-4AC6C220D0D0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3601249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A07513-FAFF-4A2D-8F94-D32C7EB42412}" type="datetime1">
              <a:rPr lang="en-GB" altLang="de-DE"/>
              <a:pPr>
                <a:defRPr/>
              </a:pPr>
              <a:t>06/03/2023</a:t>
            </a:fld>
            <a:endParaRPr lang="de-DE" altLang="de-DE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de-DE"/>
              <a:t>Additional Information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C74770A-9E1E-405A-A97F-E924C9C1A083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8650446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/>
          <p:cNvSpPr>
            <a:spLocks noGrp="1"/>
          </p:cNvSpPr>
          <p:nvPr>
            <p:ph type="title"/>
          </p:nvPr>
        </p:nvSpPr>
        <p:spPr>
          <a:xfrm>
            <a:off x="550863" y="1341438"/>
            <a:ext cx="4069821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12" name="Inhaltsplatzhalter 2"/>
          <p:cNvSpPr>
            <a:spLocks noGrp="1"/>
          </p:cNvSpPr>
          <p:nvPr>
            <p:ph idx="1"/>
          </p:nvPr>
        </p:nvSpPr>
        <p:spPr>
          <a:xfrm>
            <a:off x="4766733" y="1341438"/>
            <a:ext cx="6874405" cy="496788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Textplatzhalter 3"/>
          <p:cNvSpPr>
            <a:spLocks noGrp="1"/>
          </p:cNvSpPr>
          <p:nvPr>
            <p:ph type="body" sz="half" idx="2"/>
          </p:nvPr>
        </p:nvSpPr>
        <p:spPr>
          <a:xfrm>
            <a:off x="550863" y="2503488"/>
            <a:ext cx="4069824" cy="380583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5F363A-7795-483A-B7A4-E389D77688FE}" type="datetime1">
              <a:rPr lang="en-GB" altLang="de-DE"/>
              <a:pPr>
                <a:defRPr/>
              </a:pPr>
              <a:t>06/03/2023</a:t>
            </a:fld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de-DE"/>
              <a:t>Additional Information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768442-E025-4ABD-945A-B4732EDA65FB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55424521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3"/>
          <p:cNvSpPr>
            <a:spLocks noGrp="1"/>
          </p:cNvSpPr>
          <p:nvPr>
            <p:ph type="body" sz="half" idx="2"/>
          </p:nvPr>
        </p:nvSpPr>
        <p:spPr>
          <a:xfrm>
            <a:off x="2438400" y="5367338"/>
            <a:ext cx="7315200" cy="94198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2" name="Bildplatzhalter 2"/>
          <p:cNvSpPr>
            <a:spLocks noGrp="1"/>
          </p:cNvSpPr>
          <p:nvPr>
            <p:ph type="pic" idx="1"/>
          </p:nvPr>
        </p:nvSpPr>
        <p:spPr>
          <a:xfrm>
            <a:off x="2438400" y="1340768"/>
            <a:ext cx="7315200" cy="33861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/>
          </a:p>
        </p:txBody>
      </p:sp>
      <p:sp>
        <p:nvSpPr>
          <p:cNvPr id="13" name="Titel 1"/>
          <p:cNvSpPr>
            <a:spLocks noGrp="1"/>
          </p:cNvSpPr>
          <p:nvPr>
            <p:ph type="title"/>
          </p:nvPr>
        </p:nvSpPr>
        <p:spPr>
          <a:xfrm>
            <a:off x="2438400" y="4804008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F3524C-7950-428B-9850-991BF7B799FB}" type="datetime1">
              <a:rPr lang="en-GB" altLang="de-DE"/>
              <a:pPr>
                <a:defRPr/>
              </a:pPr>
              <a:t>06/03/2023</a:t>
            </a:fld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de-DE"/>
              <a:t>Additional Information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A2A82C-0569-4BBE-A879-BAD7A9865801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7202557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/>
          <p:cNvSpPr>
            <a:spLocks noGrp="1"/>
          </p:cNvSpPr>
          <p:nvPr>
            <p:ph type="title"/>
          </p:nvPr>
        </p:nvSpPr>
        <p:spPr>
          <a:xfrm>
            <a:off x="550863" y="1341438"/>
            <a:ext cx="11090275" cy="1143000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11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550863" y="2638425"/>
            <a:ext cx="11090275" cy="3670300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4BD149-6A9C-4DA4-8B4B-1AD7218ED0C8}" type="datetime1">
              <a:rPr lang="en-GB" altLang="de-DE"/>
              <a:pPr>
                <a:defRPr/>
              </a:pPr>
              <a:t>06/03/2023</a:t>
            </a:fld>
            <a:endParaRPr lang="de-DE" altLang="de-DE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de-DE"/>
              <a:t>Additional Information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A66A84-9D8F-4BDF-B411-A419688988E9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4035776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kaler Titel 1"/>
          <p:cNvSpPr>
            <a:spLocks noGrp="1"/>
          </p:cNvSpPr>
          <p:nvPr>
            <p:ph type="title" orient="vert"/>
          </p:nvPr>
        </p:nvSpPr>
        <p:spPr>
          <a:xfrm>
            <a:off x="8867250" y="1340768"/>
            <a:ext cx="2770716" cy="4967287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11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550863" y="1340768"/>
            <a:ext cx="8113184" cy="4967287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B23FE1-3FC0-4D74-956C-95761582A17D}" type="datetime1">
              <a:rPr lang="en-GB" altLang="de-DE"/>
              <a:pPr>
                <a:defRPr/>
              </a:pPr>
              <a:t>06/03/2023</a:t>
            </a:fld>
            <a:endParaRPr lang="de-DE" altLang="de-DE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de-DE"/>
              <a:t>Additional Information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6D137A5-AF92-44DA-BE1A-392A1BA2F888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45250339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46483866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A337D8-5079-47EE-BD23-79D77A06E038}" type="datetime1">
              <a:rPr lang="en-GB" altLang="de-DE"/>
              <a:pPr>
                <a:defRPr/>
              </a:pPr>
              <a:t>06/03/2023</a:t>
            </a:fld>
            <a:endParaRPr lang="de-DE" altLang="de-DE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4F8237-1F9C-412C-B272-1A31A6ED921F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86856636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17781" y="4406905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14400" y="2906718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BD59EA-6E6A-4BF3-B8E1-F20BDCC53CB1}" type="datetime1">
              <a:rPr lang="en-GB" altLang="de-DE"/>
              <a:pPr>
                <a:defRPr/>
              </a:pPr>
              <a:t>06/03/2023</a:t>
            </a:fld>
            <a:endParaRPr lang="de-DE" altLang="de-DE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de-DE"/>
              <a:t>Additional Information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AA4FA8-B1E5-4328-B644-EE1D45D7DDB9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49574755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550863" y="2638425"/>
            <a:ext cx="5446800" cy="3670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4339" y="2638425"/>
            <a:ext cx="5446800" cy="3670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36A87C-D378-4CC0-9C8C-A5646C513114}" type="datetime1">
              <a:rPr lang="en-GB" altLang="de-DE"/>
              <a:pPr>
                <a:defRPr/>
              </a:pPr>
              <a:t>06/03/2023</a:t>
            </a:fld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de-DE"/>
              <a:t>Additional Information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DD3115-CADB-4411-9A40-08A81C212CB2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21661462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2"/>
          <p:cNvSpPr>
            <a:spLocks noGrp="1"/>
          </p:cNvSpPr>
          <p:nvPr>
            <p:ph type="body" idx="1"/>
          </p:nvPr>
        </p:nvSpPr>
        <p:spPr>
          <a:xfrm>
            <a:off x="550864" y="2601913"/>
            <a:ext cx="544565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2" name="Inhaltsplatzhalter 3"/>
          <p:cNvSpPr>
            <a:spLocks noGrp="1"/>
          </p:cNvSpPr>
          <p:nvPr>
            <p:ph sz="half" idx="2"/>
          </p:nvPr>
        </p:nvSpPr>
        <p:spPr>
          <a:xfrm>
            <a:off x="550864" y="3241675"/>
            <a:ext cx="5445654" cy="306764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70" y="2601913"/>
            <a:ext cx="544565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4" name="Inhaltsplatzhalter 5"/>
          <p:cNvSpPr>
            <a:spLocks noGrp="1"/>
          </p:cNvSpPr>
          <p:nvPr>
            <p:ph sz="quarter" idx="4"/>
          </p:nvPr>
        </p:nvSpPr>
        <p:spPr>
          <a:xfrm>
            <a:off x="6193370" y="3241675"/>
            <a:ext cx="5445654" cy="306764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5" name="Titel 1"/>
          <p:cNvSpPr>
            <a:spLocks noGrp="1"/>
          </p:cNvSpPr>
          <p:nvPr>
            <p:ph type="title"/>
          </p:nvPr>
        </p:nvSpPr>
        <p:spPr>
          <a:xfrm>
            <a:off x="550863" y="1341438"/>
            <a:ext cx="11090275" cy="1143000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F93621-B516-4633-8BCC-88F1F6B74198}" type="datetime1">
              <a:rPr lang="en-GB" altLang="de-DE"/>
              <a:pPr>
                <a:defRPr/>
              </a:pPr>
              <a:t>06/03/2023</a:t>
            </a:fld>
            <a:endParaRPr lang="de-DE" altLang="de-DE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de-DE"/>
              <a:t>Additional Information</a:t>
            </a: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FA96E9-7DFB-4771-B9D2-40ED94E3822F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68069256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DBB0F7-2901-41FF-9BB3-FC6909E96CAE}" type="datetime1">
              <a:rPr lang="en-GB" altLang="de-DE"/>
              <a:pPr>
                <a:defRPr/>
              </a:pPr>
              <a:t>06/03/2023</a:t>
            </a:fld>
            <a:endParaRPr lang="de-DE" altLang="de-DE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de-DE"/>
              <a:t>Additional Information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9EE877-4623-4EB9-A699-547F36FB985C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8944259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A4AB11-9FB5-4CF7-A0EE-D8B53CAADECE}" type="datetime1">
              <a:rPr lang="en-GB" altLang="de-DE"/>
              <a:pPr>
                <a:defRPr/>
              </a:pPr>
              <a:t>06/03/2023</a:t>
            </a:fld>
            <a:endParaRPr lang="de-DE" altLang="de-DE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de-DE"/>
              <a:t>Additional Information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4ABDDF-F8B0-4495-8D14-7A7588D3C691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9072349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550863" y="1341438"/>
            <a:ext cx="4069821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Inhaltsplatzhalter 2"/>
          <p:cNvSpPr>
            <a:spLocks noGrp="1"/>
          </p:cNvSpPr>
          <p:nvPr>
            <p:ph idx="1"/>
          </p:nvPr>
        </p:nvSpPr>
        <p:spPr>
          <a:xfrm>
            <a:off x="4766733" y="1341438"/>
            <a:ext cx="6874405" cy="496788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Textplatzhalter 3"/>
          <p:cNvSpPr>
            <a:spLocks noGrp="1"/>
          </p:cNvSpPr>
          <p:nvPr>
            <p:ph type="body" sz="half" idx="2"/>
          </p:nvPr>
        </p:nvSpPr>
        <p:spPr>
          <a:xfrm>
            <a:off x="550863" y="2503488"/>
            <a:ext cx="4069824" cy="380583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A0F96D-BD65-43A6-84D6-9319E20A1C04}" type="datetime1">
              <a:rPr lang="en-GB" altLang="de-DE"/>
              <a:pPr>
                <a:defRPr/>
              </a:pPr>
              <a:t>06/03/2023</a:t>
            </a:fld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de-DE"/>
              <a:t>Additional Information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C0E051E-C611-4DDC-961E-1B379E6F4B1A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39529398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438400" y="5367338"/>
            <a:ext cx="7315200" cy="94198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8" name="Bildplatzhalter 2"/>
          <p:cNvSpPr>
            <a:spLocks noGrp="1"/>
          </p:cNvSpPr>
          <p:nvPr>
            <p:ph type="pic" idx="1"/>
          </p:nvPr>
        </p:nvSpPr>
        <p:spPr>
          <a:xfrm>
            <a:off x="2438400" y="1340768"/>
            <a:ext cx="7315200" cy="33861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/>
          </a:p>
        </p:txBody>
      </p:sp>
      <p:sp>
        <p:nvSpPr>
          <p:cNvPr id="9" name="Titel 1"/>
          <p:cNvSpPr>
            <a:spLocks noGrp="1"/>
          </p:cNvSpPr>
          <p:nvPr>
            <p:ph type="title"/>
          </p:nvPr>
        </p:nvSpPr>
        <p:spPr>
          <a:xfrm>
            <a:off x="2438400" y="4804008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AF3C2F-AD41-470F-B59D-BD1AFF15A45E}" type="datetime1">
              <a:rPr lang="en-GB" altLang="de-DE"/>
              <a:pPr>
                <a:defRPr/>
              </a:pPr>
              <a:t>06/03/2023</a:t>
            </a:fld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de-DE"/>
              <a:t>Additional Information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B84F73-F174-4DF6-8EB4-FBF65AECEE03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86587780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AA7EEF-A61B-40AC-BE58-9F9F7C87E87A}" type="datetime1">
              <a:rPr lang="en-GB" altLang="de-DE"/>
              <a:pPr>
                <a:defRPr/>
              </a:pPr>
              <a:t>06/03/2023</a:t>
            </a:fld>
            <a:endParaRPr lang="de-DE" altLang="de-DE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de-DE"/>
              <a:t>Additional Information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B2BCCC-BF41-4286-BF3D-BD7911C5F84B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28304923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867250" y="1340768"/>
            <a:ext cx="2770716" cy="4967287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550863" y="1340768"/>
            <a:ext cx="8113184" cy="4967287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96893E-08EC-4B3F-B6B2-3D764FD8F820}" type="datetime1">
              <a:rPr lang="en-GB" altLang="de-DE"/>
              <a:pPr>
                <a:defRPr/>
              </a:pPr>
              <a:t>06/03/2023</a:t>
            </a:fld>
            <a:endParaRPr lang="de-DE" altLang="de-DE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de-DE"/>
              <a:t>Additional Information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9DB861-C134-4D88-B116-CCAFF6A8368D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870515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w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Grafik 7" descr="Ein Bild, das Text enthält.&#10;&#10;Automatisch generierte Beschreibung"/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275" y="147638"/>
            <a:ext cx="2251075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52"/>
          <p:cNvSpPr>
            <a:spLocks noChangeArrowheads="1"/>
          </p:cNvSpPr>
          <p:nvPr userDrawn="1"/>
        </p:nvSpPr>
        <p:spPr bwMode="auto">
          <a:xfrm>
            <a:off x="119063" y="908050"/>
            <a:ext cx="11953875" cy="5834063"/>
          </a:xfrm>
          <a:prstGeom prst="rect">
            <a:avLst/>
          </a:prstGeom>
          <a:solidFill>
            <a:srgbClr val="004B5A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9pPr>
          </a:lstStyle>
          <a:p>
            <a:pPr eaLnBrk="1" hangingPunct="1">
              <a:defRPr/>
            </a:pPr>
            <a:endParaRPr lang="de-DE" altLang="de-DE"/>
          </a:p>
        </p:txBody>
      </p:sp>
      <p:pic>
        <p:nvPicPr>
          <p:cNvPr id="1028" name="Picture 53" descr="Logo_Im_Focus_A0"/>
          <p:cNvPicPr>
            <a:picLocks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6200" y="6499225"/>
            <a:ext cx="1403350" cy="8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 Box 50"/>
          <p:cNvSpPr txBox="1">
            <a:spLocks noChangeArrowheads="1"/>
          </p:cNvSpPr>
          <p:nvPr userDrawn="1"/>
        </p:nvSpPr>
        <p:spPr bwMode="auto">
          <a:xfrm>
            <a:off x="6096000" y="617538"/>
            <a:ext cx="5543550" cy="18415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en-US" altLang="de-DE" sz="1200" dirty="0">
                <a:solidFill>
                  <a:srgbClr val="004B5A"/>
                </a:solidFill>
              </a:rPr>
              <a:t>Institute for Robotics and Cognitive Systems | John Doe</a:t>
            </a:r>
          </a:p>
        </p:txBody>
      </p:sp>
      <p:sp>
        <p:nvSpPr>
          <p:cNvPr id="1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50863" y="6400800"/>
            <a:ext cx="900112" cy="1968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10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B72832A4-7C92-4E95-B788-080323E88B02}" type="datetime1">
              <a:rPr lang="en-GB" altLang="de-DE"/>
              <a:pPr>
                <a:defRPr/>
              </a:pPr>
              <a:t>06/03/2023</a:t>
            </a:fld>
            <a:endParaRPr lang="de-DE" altLang="de-DE" dirty="0"/>
          </a:p>
        </p:txBody>
      </p:sp>
      <p:sp>
        <p:nvSpPr>
          <p:cNvPr id="1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71838" y="6400800"/>
            <a:ext cx="5648325" cy="1968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1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 altLang="de-DE"/>
              <a:t>Additional Information</a:t>
            </a:r>
          </a:p>
        </p:txBody>
      </p:sp>
      <p:sp>
        <p:nvSpPr>
          <p:cNvPr id="1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20163" y="6400800"/>
            <a:ext cx="900112" cy="1968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100">
                <a:solidFill>
                  <a:schemeClr val="bg1"/>
                </a:solidFill>
              </a:defRPr>
            </a:lvl1pPr>
          </a:lstStyle>
          <a:p>
            <a:fld id="{D9115227-2DED-485A-84FF-A4F8063A6A23}" type="slidenum">
              <a:rPr lang="de-DE" altLang="de-DE"/>
              <a:pPr/>
              <a:t>‹Nr.›</a:t>
            </a:fld>
            <a:endParaRPr lang="de-DE" altLang="de-DE"/>
          </a:p>
        </p:txBody>
      </p:sp>
      <p:sp>
        <p:nvSpPr>
          <p:cNvPr id="103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50863" y="1341438"/>
            <a:ext cx="11090275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Titelmasterformat durch Klicken bearbeiten</a:t>
            </a:r>
          </a:p>
        </p:txBody>
      </p:sp>
      <p:sp>
        <p:nvSpPr>
          <p:cNvPr id="103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50863" y="2638425"/>
            <a:ext cx="11090275" cy="367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Textmasterformate durch Klicken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Myriad Pro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Myriad Pro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Myriad Pro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Myriad Pro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Myriad Pro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Myriad Pro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Myriad Pro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Myriad Pro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bg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1"/>
          <p:cNvSpPr>
            <a:spLocks noChangeArrowheads="1"/>
          </p:cNvSpPr>
          <p:nvPr userDrawn="1"/>
        </p:nvSpPr>
        <p:spPr bwMode="auto">
          <a:xfrm>
            <a:off x="119063" y="904875"/>
            <a:ext cx="11953875" cy="5837238"/>
          </a:xfrm>
          <a:prstGeom prst="rect">
            <a:avLst/>
          </a:prstGeom>
          <a:solidFill>
            <a:srgbClr val="B2B1A9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9pPr>
          </a:lstStyle>
          <a:p>
            <a:pPr eaLnBrk="1" hangingPunct="1">
              <a:defRPr/>
            </a:pPr>
            <a:endParaRPr lang="de-DE" altLang="de-DE"/>
          </a:p>
        </p:txBody>
      </p:sp>
      <p:sp>
        <p:nvSpPr>
          <p:cNvPr id="2058" name="Text Box 46"/>
          <p:cNvSpPr txBox="1">
            <a:spLocks noChangeArrowheads="1"/>
          </p:cNvSpPr>
          <p:nvPr userDrawn="1"/>
        </p:nvSpPr>
        <p:spPr bwMode="auto">
          <a:xfrm>
            <a:off x="6096000" y="620713"/>
            <a:ext cx="5969000" cy="18415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de-DE" altLang="de-DE" sz="1200">
                <a:solidFill>
                  <a:schemeClr val="bg1"/>
                </a:solidFill>
              </a:rPr>
              <a:t>Institut für Beispielsysteme | Forschungsgruppe Systembeispiele</a:t>
            </a:r>
          </a:p>
        </p:txBody>
      </p:sp>
      <p:sp>
        <p:nvSpPr>
          <p:cNvPr id="2060" name="Text Box 55"/>
          <p:cNvSpPr txBox="1">
            <a:spLocks noChangeArrowheads="1"/>
          </p:cNvSpPr>
          <p:nvPr userDrawn="1"/>
        </p:nvSpPr>
        <p:spPr bwMode="auto">
          <a:xfrm>
            <a:off x="6096000" y="908050"/>
            <a:ext cx="5545138" cy="27940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46800" rIns="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de-DE" altLang="de-DE" sz="1200" dirty="0">
                <a:solidFill>
                  <a:schemeClr val="bg1"/>
                </a:solidFill>
              </a:rPr>
              <a:t>Title </a:t>
            </a:r>
            <a:r>
              <a:rPr lang="de-DE" altLang="de-DE" sz="1200" dirty="0" err="1">
                <a:solidFill>
                  <a:schemeClr val="bg1"/>
                </a:solidFill>
              </a:rPr>
              <a:t>of</a:t>
            </a:r>
            <a:r>
              <a:rPr lang="de-DE" altLang="de-DE" sz="1200" dirty="0">
                <a:solidFill>
                  <a:schemeClr val="bg1"/>
                </a:solidFill>
              </a:rPr>
              <a:t> </a:t>
            </a:r>
            <a:r>
              <a:rPr lang="de-DE" altLang="de-DE" sz="1200" dirty="0" err="1">
                <a:solidFill>
                  <a:schemeClr val="bg1"/>
                </a:solidFill>
              </a:rPr>
              <a:t>the</a:t>
            </a:r>
            <a:r>
              <a:rPr lang="de-DE" altLang="de-DE" sz="1200" dirty="0">
                <a:solidFill>
                  <a:schemeClr val="bg1"/>
                </a:solidFill>
              </a:rPr>
              <a:t> </a:t>
            </a:r>
            <a:r>
              <a:rPr lang="de-DE" altLang="de-DE" sz="1200" dirty="0" err="1">
                <a:solidFill>
                  <a:schemeClr val="bg1"/>
                </a:solidFill>
              </a:rPr>
              <a:t>Presentation</a:t>
            </a:r>
            <a:r>
              <a:rPr lang="de-DE" altLang="de-DE" sz="1200" dirty="0">
                <a:solidFill>
                  <a:schemeClr val="bg1"/>
                </a:solidFill>
              </a:rPr>
              <a:t>: </a:t>
            </a:r>
            <a:r>
              <a:rPr lang="de-DE" altLang="de-DE" sz="1200" dirty="0" err="1">
                <a:solidFill>
                  <a:schemeClr val="bg1"/>
                </a:solidFill>
              </a:rPr>
              <a:t>repeated</a:t>
            </a:r>
            <a:r>
              <a:rPr lang="de-DE" altLang="de-DE" sz="1200" dirty="0">
                <a:solidFill>
                  <a:schemeClr val="bg1"/>
                </a:solidFill>
              </a:rPr>
              <a:t> on </a:t>
            </a:r>
            <a:r>
              <a:rPr lang="de-DE" altLang="de-DE" sz="1200" dirty="0" err="1">
                <a:solidFill>
                  <a:schemeClr val="bg1"/>
                </a:solidFill>
              </a:rPr>
              <a:t>each</a:t>
            </a:r>
            <a:r>
              <a:rPr lang="de-DE" altLang="de-DE" sz="1200" dirty="0">
                <a:solidFill>
                  <a:schemeClr val="bg1"/>
                </a:solidFill>
              </a:rPr>
              <a:t> </a:t>
            </a:r>
            <a:r>
              <a:rPr lang="de-DE" altLang="de-DE" sz="1200" dirty="0" err="1">
                <a:solidFill>
                  <a:schemeClr val="bg1"/>
                </a:solidFill>
              </a:rPr>
              <a:t>slide</a:t>
            </a:r>
            <a:endParaRPr lang="de-DE" altLang="de-DE" sz="1200" dirty="0">
              <a:solidFill>
                <a:schemeClr val="bg1"/>
              </a:solidFill>
            </a:endParaRPr>
          </a:p>
        </p:txBody>
      </p:sp>
      <p:sp>
        <p:nvSpPr>
          <p:cNvPr id="14" name="Text Box 50"/>
          <p:cNvSpPr txBox="1">
            <a:spLocks noChangeArrowheads="1"/>
          </p:cNvSpPr>
          <p:nvPr userDrawn="1"/>
        </p:nvSpPr>
        <p:spPr bwMode="auto">
          <a:xfrm>
            <a:off x="6096000" y="617538"/>
            <a:ext cx="5543550" cy="18415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en-US" altLang="de-DE" sz="1200" dirty="0">
                <a:solidFill>
                  <a:srgbClr val="004B5A"/>
                </a:solidFill>
              </a:rPr>
              <a:t>Institute for Robotics and Cognitive Systems | John Doe</a:t>
            </a:r>
          </a:p>
        </p:txBody>
      </p:sp>
      <p:sp>
        <p:nvSpPr>
          <p:cNvPr id="15" name="Rectangle 48"/>
          <p:cNvSpPr>
            <a:spLocks noChangeArrowheads="1"/>
          </p:cNvSpPr>
          <p:nvPr userDrawn="1"/>
        </p:nvSpPr>
        <p:spPr bwMode="auto">
          <a:xfrm flipV="1">
            <a:off x="119063" y="1185863"/>
            <a:ext cx="11953875" cy="460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9pPr>
          </a:lstStyle>
          <a:p>
            <a:pPr eaLnBrk="1" hangingPunct="1">
              <a:defRPr/>
            </a:pPr>
            <a:endParaRPr lang="de-DE" altLang="de-DE"/>
          </a:p>
        </p:txBody>
      </p:sp>
      <p:sp>
        <p:nvSpPr>
          <p:cNvPr id="16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50863" y="6400800"/>
            <a:ext cx="900112" cy="1968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10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062BC3D-3AD3-4BA4-90BF-6C0C3D28C5B1}" type="datetime1">
              <a:rPr lang="en-GB" altLang="de-DE"/>
              <a:pPr>
                <a:defRPr/>
              </a:pPr>
              <a:t>06/03/2023</a:t>
            </a:fld>
            <a:endParaRPr lang="de-DE" altLang="de-DE" dirty="0"/>
          </a:p>
        </p:txBody>
      </p:sp>
      <p:sp>
        <p:nvSpPr>
          <p:cNvPr id="17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774825" y="6400800"/>
            <a:ext cx="8642350" cy="1968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1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 altLang="de-DE"/>
              <a:t>Additional Information</a:t>
            </a: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41025" y="6400800"/>
            <a:ext cx="900113" cy="1968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100">
                <a:solidFill>
                  <a:schemeClr val="bg1"/>
                </a:solidFill>
              </a:defRPr>
            </a:lvl1pPr>
          </a:lstStyle>
          <a:p>
            <a:fld id="{1112C257-2C35-4EA7-8C10-5E34835BBCB7}" type="slidenum">
              <a:rPr lang="de-DE" altLang="de-DE"/>
              <a:pPr/>
              <a:t>‹Nr.›</a:t>
            </a:fld>
            <a:endParaRPr lang="de-DE" altLang="de-DE"/>
          </a:p>
        </p:txBody>
      </p:sp>
      <p:sp>
        <p:nvSpPr>
          <p:cNvPr id="2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50863" y="1341438"/>
            <a:ext cx="11090275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Titelmasterformat durch Klicken bearbeiten</a:t>
            </a:r>
          </a:p>
        </p:txBody>
      </p:sp>
      <p:sp>
        <p:nvSpPr>
          <p:cNvPr id="2059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50863" y="2638425"/>
            <a:ext cx="11090275" cy="367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Textmasterformate durch Klicken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pic>
        <p:nvPicPr>
          <p:cNvPr id="3" name="Grafik 7" descr="Ein Bild, das Text enthält.&#10;&#10;Automatisch generierte Beschreibun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275" y="147638"/>
            <a:ext cx="2251075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Myriad Pro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Myriad Pro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Myriad Pro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Myriad Pro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Myriad Pro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Myriad Pro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Myriad Pro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Myriad Pro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bg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7"/>
          <p:cNvSpPr>
            <a:spLocks noChangeArrowheads="1"/>
          </p:cNvSpPr>
          <p:nvPr userDrawn="1"/>
        </p:nvSpPr>
        <p:spPr bwMode="auto">
          <a:xfrm>
            <a:off x="119063" y="908050"/>
            <a:ext cx="11953875" cy="5834063"/>
          </a:xfrm>
          <a:prstGeom prst="rect">
            <a:avLst/>
          </a:prstGeom>
          <a:solidFill>
            <a:srgbClr val="DAD9D3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9pPr>
          </a:lstStyle>
          <a:p>
            <a:pPr eaLnBrk="1" hangingPunct="1">
              <a:defRPr/>
            </a:pPr>
            <a:endParaRPr lang="de-DE" altLang="de-DE"/>
          </a:p>
        </p:txBody>
      </p:sp>
      <p:sp>
        <p:nvSpPr>
          <p:cNvPr id="3081" name="Text Box 46"/>
          <p:cNvSpPr txBox="1">
            <a:spLocks noChangeArrowheads="1"/>
          </p:cNvSpPr>
          <p:nvPr userDrawn="1"/>
        </p:nvSpPr>
        <p:spPr bwMode="auto">
          <a:xfrm>
            <a:off x="6096000" y="620713"/>
            <a:ext cx="5969000" cy="18415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de-DE" altLang="de-DE" sz="1200">
                <a:solidFill>
                  <a:schemeClr val="bg1"/>
                </a:solidFill>
              </a:rPr>
              <a:t>Institut für Beispielsysteme | Forschungsgruppe Systembeispiele</a:t>
            </a:r>
          </a:p>
        </p:txBody>
      </p:sp>
      <p:sp>
        <p:nvSpPr>
          <p:cNvPr id="3082" name="Rectangle 48"/>
          <p:cNvSpPr>
            <a:spLocks noChangeArrowheads="1"/>
          </p:cNvSpPr>
          <p:nvPr userDrawn="1"/>
        </p:nvSpPr>
        <p:spPr bwMode="auto">
          <a:xfrm flipV="1">
            <a:off x="119063" y="1185863"/>
            <a:ext cx="11953875" cy="460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9pPr>
          </a:lstStyle>
          <a:p>
            <a:pPr eaLnBrk="1" hangingPunct="1">
              <a:defRPr/>
            </a:pPr>
            <a:endParaRPr lang="de-DE" altLang="de-DE"/>
          </a:p>
        </p:txBody>
      </p:sp>
      <p:sp>
        <p:nvSpPr>
          <p:cNvPr id="3083" name="Text Box 50"/>
          <p:cNvSpPr txBox="1">
            <a:spLocks noChangeArrowheads="1"/>
          </p:cNvSpPr>
          <p:nvPr userDrawn="1"/>
        </p:nvSpPr>
        <p:spPr bwMode="auto">
          <a:xfrm>
            <a:off x="6096000" y="617538"/>
            <a:ext cx="5543550" cy="18415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en-US" altLang="de-DE" sz="1200" dirty="0">
                <a:solidFill>
                  <a:srgbClr val="004B5A"/>
                </a:solidFill>
              </a:rPr>
              <a:t>Institute for Robotics and Cognitive Systems | John Doe</a:t>
            </a:r>
          </a:p>
        </p:txBody>
      </p:sp>
      <p:sp>
        <p:nvSpPr>
          <p:cNvPr id="3084" name="Text Box 51"/>
          <p:cNvSpPr txBox="1">
            <a:spLocks noChangeArrowheads="1"/>
          </p:cNvSpPr>
          <p:nvPr userDrawn="1"/>
        </p:nvSpPr>
        <p:spPr bwMode="auto">
          <a:xfrm>
            <a:off x="6096000" y="906463"/>
            <a:ext cx="5545138" cy="27940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46800" rIns="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en-US" altLang="de-DE" sz="1200" dirty="0"/>
              <a:t>Title of the Presentation: repeated on each slide</a:t>
            </a:r>
          </a:p>
        </p:txBody>
      </p:sp>
      <p:sp>
        <p:nvSpPr>
          <p:cNvPr id="1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50863" y="6400800"/>
            <a:ext cx="900112" cy="1968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100" smtClean="0"/>
            </a:lvl1pPr>
          </a:lstStyle>
          <a:p>
            <a:pPr>
              <a:defRPr/>
            </a:pPr>
            <a:fld id="{05AE29CB-7A46-43C6-879F-D905E9786456}" type="datetime1">
              <a:rPr lang="en-GB" altLang="de-DE"/>
              <a:pPr>
                <a:defRPr/>
              </a:pPr>
              <a:t>06/03/2023</a:t>
            </a:fld>
            <a:endParaRPr lang="de-DE" altLang="de-DE"/>
          </a:p>
        </p:txBody>
      </p:sp>
      <p:sp>
        <p:nvSpPr>
          <p:cNvPr id="1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774825" y="6400800"/>
            <a:ext cx="8642350" cy="1968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100"/>
            </a:lvl1pPr>
          </a:lstStyle>
          <a:p>
            <a:pPr>
              <a:defRPr/>
            </a:pPr>
            <a:r>
              <a:rPr lang="de-DE" altLang="de-DE"/>
              <a:t>Additional Information</a:t>
            </a:r>
          </a:p>
        </p:txBody>
      </p:sp>
      <p:sp>
        <p:nvSpPr>
          <p:cNvPr id="1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41025" y="6400800"/>
            <a:ext cx="900113" cy="1968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100"/>
            </a:lvl1pPr>
          </a:lstStyle>
          <a:p>
            <a:fld id="{64EEC2E3-0B48-479B-A427-96DD13EF66D9}" type="slidenum">
              <a:rPr lang="de-DE" altLang="de-DE"/>
              <a:pPr/>
              <a:t>‹Nr.›</a:t>
            </a:fld>
            <a:endParaRPr lang="de-DE" altLang="de-DE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50863" y="1341438"/>
            <a:ext cx="11090275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Titelmasterformat durch Klicken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50863" y="2638425"/>
            <a:ext cx="11090275" cy="367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Textmasterformate durch Klicken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pic>
        <p:nvPicPr>
          <p:cNvPr id="5" name="Grafik 7" descr="Ein Bild, das Text enthält.&#10;&#10;Automatisch generierte Beschreibun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275" y="147638"/>
            <a:ext cx="2251075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Myriad Pro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Myriad Pro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Myriad Pro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Myriad Pro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Myriad Pro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Myriad Pro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Myriad Pro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Myriad Pro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 userDrawn="1"/>
        </p:nvSpPr>
        <p:spPr bwMode="auto">
          <a:xfrm>
            <a:off x="0" y="0"/>
            <a:ext cx="12192000" cy="908050"/>
          </a:xfrm>
          <a:prstGeom prst="rect">
            <a:avLst/>
          </a:prstGeom>
          <a:solidFill>
            <a:srgbClr val="004B5A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9pPr>
          </a:lstStyle>
          <a:p>
            <a:pPr eaLnBrk="1" hangingPunct="1">
              <a:defRPr/>
            </a:pPr>
            <a:endParaRPr lang="de-DE" altLang="de-DE" dirty="0"/>
          </a:p>
        </p:txBody>
      </p:sp>
      <p:pic>
        <p:nvPicPr>
          <p:cNvPr id="4099" name="Grafik 5" descr="Ein Bild, das Text enthält.&#10;&#10;Automatisch generierte Beschreibun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463" y="125413"/>
            <a:ext cx="2339975" cy="66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0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50863" y="1341438"/>
            <a:ext cx="11090275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Titelmasterformat durch Klicken bearbeiten</a:t>
            </a:r>
          </a:p>
        </p:txBody>
      </p:sp>
      <p:sp>
        <p:nvSpPr>
          <p:cNvPr id="4101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50863" y="2638425"/>
            <a:ext cx="11090275" cy="367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Textmasterformate durch Klicken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12698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50863" y="6400800"/>
            <a:ext cx="900112" cy="1968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100" smtClean="0"/>
            </a:lvl1pPr>
          </a:lstStyle>
          <a:p>
            <a:pPr>
              <a:defRPr/>
            </a:pPr>
            <a:fld id="{3DE1F6F8-F68A-40F3-B812-AA707C99525A}" type="datetime1">
              <a:rPr lang="en-GB" altLang="de-DE"/>
              <a:pPr>
                <a:defRPr/>
              </a:pPr>
              <a:t>06/03/2023</a:t>
            </a:fld>
            <a:endParaRPr lang="de-DE" altLang="de-DE"/>
          </a:p>
        </p:txBody>
      </p:sp>
      <p:sp>
        <p:nvSpPr>
          <p:cNvPr id="12698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774825" y="6400800"/>
            <a:ext cx="8642350" cy="1968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100"/>
            </a:lvl1pPr>
          </a:lstStyle>
          <a:p>
            <a:pPr>
              <a:defRPr/>
            </a:pPr>
            <a:r>
              <a:rPr lang="de-DE" altLang="de-DE"/>
              <a:t>Additional Information</a:t>
            </a:r>
          </a:p>
        </p:txBody>
      </p:sp>
      <p:sp>
        <p:nvSpPr>
          <p:cNvPr id="12698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41025" y="6400800"/>
            <a:ext cx="900113" cy="1968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100"/>
            </a:lvl1pPr>
          </a:lstStyle>
          <a:p>
            <a:fld id="{51D6A25B-4964-4826-AAF0-D17758C7AE45}" type="slidenum">
              <a:rPr lang="de-DE" altLang="de-DE"/>
              <a:pPr/>
              <a:t>‹Nr.›</a:t>
            </a:fld>
            <a:endParaRPr lang="de-DE" altLang="de-DE"/>
          </a:p>
        </p:txBody>
      </p:sp>
      <p:sp>
        <p:nvSpPr>
          <p:cNvPr id="4105" name="Rectangle 45"/>
          <p:cNvSpPr>
            <a:spLocks noChangeArrowheads="1"/>
          </p:cNvSpPr>
          <p:nvPr userDrawn="1"/>
        </p:nvSpPr>
        <p:spPr bwMode="auto">
          <a:xfrm flipV="1">
            <a:off x="0" y="6669088"/>
            <a:ext cx="12192000" cy="188912"/>
          </a:xfrm>
          <a:prstGeom prst="rect">
            <a:avLst/>
          </a:prstGeom>
          <a:solidFill>
            <a:srgbClr val="004B5A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9pPr>
          </a:lstStyle>
          <a:p>
            <a:pPr eaLnBrk="1" hangingPunct="1">
              <a:defRPr/>
            </a:pPr>
            <a:endParaRPr lang="de-DE" altLang="de-DE"/>
          </a:p>
        </p:txBody>
      </p:sp>
      <p:sp>
        <p:nvSpPr>
          <p:cNvPr id="4106" name="Text Box 46"/>
          <p:cNvSpPr txBox="1">
            <a:spLocks noChangeArrowheads="1"/>
          </p:cNvSpPr>
          <p:nvPr userDrawn="1"/>
        </p:nvSpPr>
        <p:spPr bwMode="auto">
          <a:xfrm>
            <a:off x="6096000" y="619125"/>
            <a:ext cx="5545138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en-US" altLang="de-DE" sz="1200" dirty="0">
                <a:solidFill>
                  <a:schemeClr val="bg1"/>
                </a:solidFill>
              </a:rPr>
              <a:t>Institute for Robotics and Cognitive Systems | Hauke Budig</a:t>
            </a:r>
          </a:p>
          <a:p>
            <a:pPr algn="r" eaLnBrk="1" hangingPunct="1">
              <a:spcBef>
                <a:spcPct val="50000"/>
              </a:spcBef>
              <a:defRPr/>
            </a:pPr>
            <a:endParaRPr lang="en-US" altLang="de-DE" sz="1200" dirty="0">
              <a:solidFill>
                <a:schemeClr val="bg1"/>
              </a:solidFill>
            </a:endParaRPr>
          </a:p>
        </p:txBody>
      </p:sp>
      <p:sp>
        <p:nvSpPr>
          <p:cNvPr id="4107" name="Text Box 48"/>
          <p:cNvSpPr txBox="1">
            <a:spLocks noChangeArrowheads="1"/>
          </p:cNvSpPr>
          <p:nvPr userDrawn="1"/>
        </p:nvSpPr>
        <p:spPr bwMode="auto">
          <a:xfrm>
            <a:off x="5447928" y="908050"/>
            <a:ext cx="6193210" cy="2791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46800" rIns="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Myriad Pro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itchFamily="34" charset="0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de-DE" altLang="de-DE" sz="1200" dirty="0"/>
              <a:t>Erfassung non-verbaler Kommunikation  zur Bestimmung der Glasgow </a:t>
            </a:r>
            <a:r>
              <a:rPr lang="de-DE" altLang="de-DE" sz="1200" dirty="0" err="1"/>
              <a:t>Coma</a:t>
            </a:r>
            <a:r>
              <a:rPr lang="de-DE" altLang="de-DE" sz="1200" dirty="0"/>
              <a:t> </a:t>
            </a:r>
            <a:r>
              <a:rPr lang="de-DE" altLang="de-DE" sz="1200" dirty="0" err="1"/>
              <a:t>Scale</a:t>
            </a:r>
            <a:r>
              <a:rPr lang="de-DE" altLang="de-DE" sz="1200" dirty="0"/>
              <a:t> (GCS)</a:t>
            </a:r>
            <a:endParaRPr lang="en-US" altLang="de-DE" sz="8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796" r:id="rId2"/>
    <p:sldLayoutId id="2147483797" r:id="rId3"/>
    <p:sldLayoutId id="2147483798" r:id="rId4"/>
    <p:sldLayoutId id="2147483799" r:id="rId5"/>
    <p:sldLayoutId id="2147483800" r:id="rId6"/>
    <p:sldLayoutId id="2147483801" r:id="rId7"/>
    <p:sldLayoutId id="2147483802" r:id="rId8"/>
    <p:sldLayoutId id="2147483803" r:id="rId9"/>
    <p:sldLayoutId id="2147483804" r:id="rId10"/>
    <p:sldLayoutId id="2147483805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Myriad Pro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Myriad Pro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Myriad Pro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Myriad Pro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Myriad Pro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Myriad Pro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Myriad Pro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Myriad Pro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el 6"/>
          <p:cNvSpPr>
            <a:spLocks noGrp="1" noChangeArrowheads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de-DE" altLang="de-DE" dirty="0"/>
              <a:t>Erfassung non-verbaler Kommunikation </a:t>
            </a:r>
            <a:br>
              <a:rPr lang="de-DE" altLang="de-DE" dirty="0"/>
            </a:br>
            <a:r>
              <a:rPr lang="de-DE" altLang="de-DE" dirty="0"/>
              <a:t>zur Bestimmung der Glasgow </a:t>
            </a:r>
            <a:r>
              <a:rPr lang="de-DE" altLang="de-DE" dirty="0" err="1"/>
              <a:t>Coma</a:t>
            </a:r>
            <a:r>
              <a:rPr lang="de-DE" altLang="de-DE" dirty="0"/>
              <a:t> </a:t>
            </a:r>
            <a:r>
              <a:rPr lang="de-DE" altLang="de-DE" dirty="0" err="1"/>
              <a:t>Scale</a:t>
            </a:r>
            <a:r>
              <a:rPr lang="de-DE" altLang="de-DE" dirty="0"/>
              <a:t> (GCS)</a:t>
            </a:r>
          </a:p>
        </p:txBody>
      </p:sp>
      <p:sp>
        <p:nvSpPr>
          <p:cNvPr id="12291" name="Untertitel 7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de-DE" altLang="de-DE" dirty="0"/>
              <a:t>Hauke </a:t>
            </a:r>
            <a:r>
              <a:rPr lang="de-DE" altLang="de-DE" dirty="0" err="1"/>
              <a:t>Budig</a:t>
            </a:r>
            <a:endParaRPr lang="de-DE" altLang="de-DE" dirty="0"/>
          </a:p>
          <a:p>
            <a:pPr eaLnBrk="1" hangingPunct="1"/>
            <a:r>
              <a:rPr lang="de-DE" altLang="de-DE" dirty="0"/>
              <a:t>Institut für Robotik und Kognitive Systeme</a:t>
            </a:r>
          </a:p>
          <a:p>
            <a:pPr eaLnBrk="1" hangingPunct="1"/>
            <a:r>
              <a:rPr lang="de-DE" altLang="de-DE" dirty="0"/>
              <a:t>Universität zu Lübeck</a:t>
            </a:r>
            <a:endParaRPr lang="en-GB" altLang="de-DE" dirty="0"/>
          </a:p>
        </p:txBody>
      </p:sp>
    </p:spTree>
    <p:extLst>
      <p:ext uri="{BB962C8B-B14F-4D97-AF65-F5344CB8AC3E}">
        <p14:creationId xmlns:p14="http://schemas.microsoft.com/office/powerpoint/2010/main" val="873251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407368" y="1124744"/>
            <a:ext cx="11090275" cy="1143000"/>
          </a:xfrm>
        </p:spPr>
        <p:txBody>
          <a:bodyPr/>
          <a:lstStyle/>
          <a:p>
            <a:r>
              <a:rPr lang="de-DE" dirty="0"/>
              <a:t>Glasgow </a:t>
            </a:r>
            <a:r>
              <a:rPr lang="de-DE" dirty="0" err="1"/>
              <a:t>Coma</a:t>
            </a:r>
            <a:r>
              <a:rPr lang="de-DE" dirty="0"/>
              <a:t> Score (GCS)</a:t>
            </a:r>
          </a:p>
        </p:txBody>
      </p:sp>
      <p:graphicFrame>
        <p:nvGraphicFramePr>
          <p:cNvPr id="7" name="Inhaltsplatzhalt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1194598"/>
              </p:ext>
            </p:extLst>
          </p:nvPr>
        </p:nvGraphicFramePr>
        <p:xfrm>
          <a:off x="1217328" y="2117738"/>
          <a:ext cx="9757344" cy="44856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28352">
                  <a:extLst>
                    <a:ext uri="{9D8B030D-6E8A-4147-A177-3AD203B41FA5}">
                      <a16:colId xmlns:a16="http://schemas.microsoft.com/office/drawing/2014/main" val="1643858271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139495150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3730344721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9274160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Eye Opening Response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Verbal Response 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Motor Response 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251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+6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Obeys commands for movement</a:t>
                      </a:r>
                      <a:endParaRPr lang="de-DE" dirty="0"/>
                    </a:p>
                  </a:txBody>
                  <a:tcPr anchor="ctr"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7979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+5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Oriented</a:t>
                      </a:r>
                      <a:endParaRPr lang="de-DE" dirty="0"/>
                    </a:p>
                  </a:txBody>
                  <a:tcPr anchor="ctr"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Purposeful movement to painful</a:t>
                      </a:r>
                      <a:r>
                        <a:rPr lang="en-US" baseline="30000" dirty="0"/>
                        <a:t>1</a:t>
                      </a:r>
                      <a:r>
                        <a:rPr lang="en-US" dirty="0"/>
                        <a:t> stimulus</a:t>
                      </a:r>
                      <a:endParaRPr lang="de-DE" dirty="0"/>
                    </a:p>
                  </a:txBody>
                  <a:tcPr anchor="ctr"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7216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+4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Spontaneous-open with blinking at baseline</a:t>
                      </a:r>
                      <a:endParaRPr lang="de-DE" dirty="0"/>
                    </a:p>
                  </a:txBody>
                  <a:tcPr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Confused conversation, but able to answer questions</a:t>
                      </a:r>
                      <a:endParaRPr lang="de-DE" dirty="0"/>
                    </a:p>
                  </a:txBody>
                  <a:tcPr anchor="ctr"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Withdraws in response to pain</a:t>
                      </a:r>
                      <a:r>
                        <a:rPr lang="en-US" baseline="30000" dirty="0"/>
                        <a:t>1</a:t>
                      </a:r>
                      <a:endParaRPr lang="de-DE" dirty="0"/>
                    </a:p>
                  </a:txBody>
                  <a:tcPr anchor="ctr"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889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+3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 verbal stimuli, command, speech</a:t>
                      </a:r>
                      <a:endParaRPr lang="de-DE" dirty="0"/>
                    </a:p>
                  </a:txBody>
                  <a:tcPr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Inappropriate words</a:t>
                      </a:r>
                      <a:endParaRPr lang="de-DE" dirty="0"/>
                    </a:p>
                  </a:txBody>
                  <a:tcPr anchor="ctr"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Flexion in response to pain</a:t>
                      </a:r>
                      <a:r>
                        <a:rPr lang="en-US" baseline="30000" dirty="0"/>
                        <a:t>1</a:t>
                      </a:r>
                      <a:r>
                        <a:rPr lang="en-US" dirty="0"/>
                        <a:t> (decorticate posturing)</a:t>
                      </a:r>
                      <a:endParaRPr lang="de-DE" dirty="0"/>
                    </a:p>
                  </a:txBody>
                  <a:tcPr anchor="ctr"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239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+2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 pain</a:t>
                      </a:r>
                      <a:r>
                        <a:rPr lang="en-US" baseline="30000" dirty="0"/>
                        <a:t>1</a:t>
                      </a:r>
                      <a:r>
                        <a:rPr lang="en-US" dirty="0"/>
                        <a:t> only </a:t>
                      </a:r>
                      <a:br>
                        <a:rPr lang="en-US" dirty="0"/>
                      </a:br>
                      <a:r>
                        <a:rPr lang="en-US" dirty="0"/>
                        <a:t>(not applied to face) </a:t>
                      </a:r>
                      <a:endParaRPr lang="de-DE" dirty="0"/>
                    </a:p>
                  </a:txBody>
                  <a:tcPr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Incomprehensible speech</a:t>
                      </a:r>
                      <a:endParaRPr lang="de-DE" dirty="0"/>
                    </a:p>
                  </a:txBody>
                  <a:tcPr anchor="ctr">
                    <a:pattFill prst="wdUpDiag">
                      <a:fgClr>
                        <a:srgbClr val="FF9999"/>
                      </a:fgClr>
                      <a:bgClr>
                        <a:srgbClr val="99FF99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Extension response in response to pain</a:t>
                      </a:r>
                      <a:r>
                        <a:rPr lang="en-US" baseline="30000" dirty="0"/>
                        <a:t>1</a:t>
                      </a:r>
                      <a:r>
                        <a:rPr lang="en-US" dirty="0"/>
                        <a:t> (</a:t>
                      </a:r>
                      <a:r>
                        <a:rPr lang="en-US" dirty="0" err="1"/>
                        <a:t>decerebrate</a:t>
                      </a:r>
                      <a:r>
                        <a:rPr lang="en-US" dirty="0"/>
                        <a:t> posturing)</a:t>
                      </a:r>
                      <a:endParaRPr lang="de-DE" dirty="0"/>
                    </a:p>
                  </a:txBody>
                  <a:tcPr anchor="ctr"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03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+1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</a:t>
                      </a:r>
                    </a:p>
                    <a:p>
                      <a:pPr algn="ctr"/>
                      <a:r>
                        <a:rPr lang="en-US" dirty="0"/>
                        <a:t>response</a:t>
                      </a:r>
                      <a:endParaRPr lang="de-DE" dirty="0"/>
                    </a:p>
                  </a:txBody>
                  <a:tcPr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</a:t>
                      </a:r>
                    </a:p>
                    <a:p>
                      <a:pPr algn="ctr"/>
                      <a:r>
                        <a:rPr lang="en-US" dirty="0"/>
                        <a:t>response</a:t>
                      </a:r>
                      <a:endParaRPr lang="de-DE" dirty="0"/>
                    </a:p>
                  </a:txBody>
                  <a:tcPr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</a:t>
                      </a:r>
                    </a:p>
                    <a:p>
                      <a:pPr algn="ctr"/>
                      <a:r>
                        <a:rPr lang="en-US" dirty="0"/>
                        <a:t>response</a:t>
                      </a:r>
                      <a:endParaRPr lang="de-DE" dirty="0"/>
                    </a:p>
                  </a:txBody>
                  <a:tcPr anchor="ctr"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919327"/>
                  </a:ext>
                </a:extLst>
              </a:tr>
            </a:tbl>
          </a:graphicData>
        </a:graphic>
      </p:graphicFrame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BA4AB11-9FB5-4CF7-A0EE-D8B53CAADECE}" type="datetime1">
              <a:rPr lang="en-GB" altLang="de-DE" smtClean="0"/>
              <a:pPr>
                <a:defRPr/>
              </a:pPr>
              <a:t>06/03/2023</a:t>
            </a:fld>
            <a:endParaRPr lang="de-DE" alt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ABDDF-F8B0-4495-8D14-7A7588D3C691}" type="slidenum">
              <a:rPr lang="de-DE" altLang="de-DE" smtClean="0"/>
              <a:pPr/>
              <a:t>2</a:t>
            </a:fld>
            <a:endParaRPr lang="de-DE" altLang="de-DE"/>
          </a:p>
        </p:txBody>
      </p:sp>
      <p:grpSp>
        <p:nvGrpSpPr>
          <p:cNvPr id="13" name="Gruppieren 12"/>
          <p:cNvGrpSpPr/>
          <p:nvPr/>
        </p:nvGrpSpPr>
        <p:grpSpPr>
          <a:xfrm>
            <a:off x="7680176" y="1194408"/>
            <a:ext cx="3366247" cy="923330"/>
            <a:chOff x="7248128" y="1154606"/>
            <a:chExt cx="3366247" cy="923330"/>
          </a:xfrm>
        </p:grpSpPr>
        <p:sp>
          <p:nvSpPr>
            <p:cNvPr id="8" name="Rechteck 7"/>
            <p:cNvSpPr/>
            <p:nvPr/>
          </p:nvSpPr>
          <p:spPr>
            <a:xfrm>
              <a:off x="7248128" y="1228771"/>
              <a:ext cx="216024" cy="216024"/>
            </a:xfrm>
            <a:prstGeom prst="rect">
              <a:avLst/>
            </a:prstGeom>
            <a:solidFill>
              <a:srgbClr val="FF99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Rechteck 8"/>
            <p:cNvSpPr/>
            <p:nvPr/>
          </p:nvSpPr>
          <p:spPr>
            <a:xfrm>
              <a:off x="7248128" y="1508259"/>
              <a:ext cx="216024" cy="216024"/>
            </a:xfrm>
            <a:prstGeom prst="rect">
              <a:avLst/>
            </a:prstGeom>
            <a:solidFill>
              <a:srgbClr val="99FF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" name="Rechteck 10"/>
            <p:cNvSpPr/>
            <p:nvPr/>
          </p:nvSpPr>
          <p:spPr>
            <a:xfrm>
              <a:off x="7248128" y="1782955"/>
              <a:ext cx="216024" cy="216024"/>
            </a:xfrm>
            <a:prstGeom prst="rect">
              <a:avLst/>
            </a:prstGeom>
            <a:pattFill prst="wdUpDiag">
              <a:fgClr>
                <a:srgbClr val="FF9999"/>
              </a:fgClr>
              <a:bgClr>
                <a:srgbClr val="99FF99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Textfeld 11"/>
            <p:cNvSpPr txBox="1"/>
            <p:nvPr/>
          </p:nvSpPr>
          <p:spPr>
            <a:xfrm>
              <a:off x="7536160" y="1154606"/>
              <a:ext cx="307821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Non-verbal </a:t>
              </a:r>
              <a:r>
                <a:rPr lang="de-DE" dirty="0" err="1"/>
                <a:t>response</a:t>
              </a:r>
              <a:r>
                <a:rPr lang="de-DE" dirty="0"/>
                <a:t> </a:t>
              </a:r>
            </a:p>
            <a:p>
              <a:r>
                <a:rPr lang="de-DE" dirty="0"/>
                <a:t>Verbal </a:t>
              </a:r>
              <a:r>
                <a:rPr lang="de-DE" dirty="0" err="1"/>
                <a:t>response</a:t>
              </a:r>
              <a:endParaRPr lang="de-DE" dirty="0"/>
            </a:p>
            <a:p>
              <a:r>
                <a:rPr lang="de-DE" dirty="0"/>
                <a:t>Non-verbal </a:t>
              </a:r>
              <a:r>
                <a:rPr lang="de-DE" dirty="0" err="1"/>
                <a:t>or</a:t>
              </a:r>
              <a:r>
                <a:rPr lang="de-DE" dirty="0"/>
                <a:t> verbal </a:t>
              </a:r>
              <a:r>
                <a:rPr lang="de-DE" dirty="0" err="1"/>
                <a:t>response</a:t>
              </a:r>
              <a:endParaRPr lang="de-DE" dirty="0"/>
            </a:p>
          </p:txBody>
        </p:sp>
      </p:grpSp>
      <p:sp>
        <p:nvSpPr>
          <p:cNvPr id="16" name="Textfeld 15"/>
          <p:cNvSpPr txBox="1"/>
          <p:nvPr/>
        </p:nvSpPr>
        <p:spPr>
          <a:xfrm>
            <a:off x="10885814" y="5550049"/>
            <a:ext cx="12236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400" baseline="30000" dirty="0"/>
              <a:t>1</a:t>
            </a:r>
            <a:r>
              <a:rPr lang="de-DE" sz="1400" dirty="0"/>
              <a:t> </a:t>
            </a:r>
            <a:r>
              <a:rPr lang="de-DE" sz="1400" dirty="0" err="1"/>
              <a:t>loud</a:t>
            </a:r>
            <a:r>
              <a:rPr lang="de-DE" sz="1400" dirty="0"/>
              <a:t> </a:t>
            </a:r>
            <a:r>
              <a:rPr lang="de-DE" sz="1400" dirty="0" err="1"/>
              <a:t>noise</a:t>
            </a:r>
            <a:r>
              <a:rPr lang="de-DE" sz="1400" dirty="0"/>
              <a:t> will </a:t>
            </a:r>
            <a:r>
              <a:rPr lang="de-DE" sz="1400" dirty="0" err="1"/>
              <a:t>be</a:t>
            </a:r>
            <a:r>
              <a:rPr lang="de-DE" sz="1400" dirty="0"/>
              <a:t> </a:t>
            </a:r>
          </a:p>
          <a:p>
            <a:pPr algn="r"/>
            <a:r>
              <a:rPr lang="de-DE" sz="1400" dirty="0" err="1"/>
              <a:t>used</a:t>
            </a:r>
            <a:r>
              <a:rPr lang="de-DE" sz="1400" dirty="0"/>
              <a:t> </a:t>
            </a:r>
            <a:r>
              <a:rPr lang="de-DE" sz="1400" dirty="0" err="1"/>
              <a:t>as</a:t>
            </a:r>
            <a:r>
              <a:rPr lang="de-DE" sz="1400" dirty="0"/>
              <a:t> </a:t>
            </a:r>
          </a:p>
          <a:p>
            <a:pPr algn="r"/>
            <a:r>
              <a:rPr lang="de-DE" sz="1400" dirty="0" err="1"/>
              <a:t>pain</a:t>
            </a:r>
            <a:r>
              <a:rPr lang="de-DE" sz="1400" dirty="0"/>
              <a:t> </a:t>
            </a:r>
            <a:r>
              <a:rPr lang="de-DE" sz="1400" dirty="0" err="1"/>
              <a:t>stimulus</a:t>
            </a:r>
            <a:endParaRPr lang="de-DE" sz="1400" dirty="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C6CF8C21-AEA3-F07D-EEB0-0EFD3989AC4F}"/>
              </a:ext>
            </a:extLst>
          </p:cNvPr>
          <p:cNvSpPr/>
          <p:nvPr/>
        </p:nvSpPr>
        <p:spPr>
          <a:xfrm>
            <a:off x="7464152" y="1764085"/>
            <a:ext cx="3744416" cy="497728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5276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9"/>
          <p:cNvSpPr>
            <a:spLocks noGrp="1" noChangeArrowheads="1"/>
          </p:cNvSpPr>
          <p:nvPr>
            <p:ph type="title"/>
          </p:nvPr>
        </p:nvSpPr>
        <p:spPr>
          <a:xfrm>
            <a:off x="406325" y="1133872"/>
            <a:ext cx="11090275" cy="1143000"/>
          </a:xfrm>
        </p:spPr>
        <p:txBody>
          <a:bodyPr/>
          <a:lstStyle/>
          <a:p>
            <a:pPr lvl="0" eaLnBrk="1" hangingPunct="1"/>
            <a:r>
              <a:rPr lang="de-DE" altLang="de-DE" dirty="0"/>
              <a:t>Non-verbal </a:t>
            </a:r>
            <a:r>
              <a:rPr lang="de-DE" altLang="de-DE" dirty="0" err="1"/>
              <a:t>assessment</a:t>
            </a:r>
            <a:br>
              <a:rPr lang="de-DE" altLang="de-DE" dirty="0"/>
            </a:br>
            <a:br>
              <a:rPr lang="de-DE" altLang="de-DE" sz="2000" dirty="0">
                <a:solidFill>
                  <a:srgbClr val="000000"/>
                </a:solidFill>
                <a:latin typeface="Myriad Pro" panose="020B0503030403020204" pitchFamily="34" charset="0"/>
                <a:ea typeface="+mn-ea"/>
                <a:cs typeface="+mn-cs"/>
              </a:rPr>
            </a:br>
            <a:r>
              <a:rPr lang="de-DE" altLang="de-DE" sz="2400" dirty="0" err="1">
                <a:solidFill>
                  <a:srgbClr val="000000"/>
                </a:solidFill>
                <a:latin typeface="Myriad Pro" panose="020B0503030403020204" pitchFamily="34" charset="0"/>
                <a:ea typeface="+mn-ea"/>
                <a:cs typeface="+mn-cs"/>
              </a:rPr>
              <a:t>Combined</a:t>
            </a:r>
            <a:r>
              <a:rPr lang="de-DE" altLang="de-DE" sz="2400" dirty="0">
                <a:solidFill>
                  <a:srgbClr val="000000"/>
                </a:solidFill>
                <a:latin typeface="Myriad Pro" panose="020B0503030403020204" pitchFamily="34" charset="0"/>
                <a:ea typeface="+mn-ea"/>
                <a:cs typeface="+mn-cs"/>
              </a:rPr>
              <a:t> </a:t>
            </a:r>
            <a:r>
              <a:rPr lang="de-DE" altLang="de-DE" sz="2400" dirty="0" err="1">
                <a:solidFill>
                  <a:srgbClr val="000000"/>
                </a:solidFill>
                <a:latin typeface="Myriad Pro" panose="020B0503030403020204" pitchFamily="34" charset="0"/>
                <a:ea typeface="+mn-ea"/>
                <a:cs typeface="+mn-cs"/>
              </a:rPr>
              <a:t>face</a:t>
            </a:r>
            <a:r>
              <a:rPr lang="de-DE" altLang="de-DE" sz="2400" dirty="0">
                <a:solidFill>
                  <a:srgbClr val="000000"/>
                </a:solidFill>
                <a:latin typeface="Myriad Pro" panose="020B0503030403020204" pitchFamily="34" charset="0"/>
                <a:ea typeface="+mn-ea"/>
                <a:cs typeface="+mn-cs"/>
              </a:rPr>
              <a:t> </a:t>
            </a:r>
            <a:r>
              <a:rPr lang="de-DE" altLang="de-DE" sz="2400" dirty="0" err="1">
                <a:solidFill>
                  <a:srgbClr val="000000"/>
                </a:solidFill>
                <a:latin typeface="Myriad Pro" panose="020B0503030403020204" pitchFamily="34" charset="0"/>
                <a:ea typeface="+mn-ea"/>
                <a:cs typeface="+mn-cs"/>
              </a:rPr>
              <a:t>and</a:t>
            </a:r>
            <a:r>
              <a:rPr lang="de-DE" altLang="de-DE" sz="2400" dirty="0">
                <a:solidFill>
                  <a:srgbClr val="000000"/>
                </a:solidFill>
                <a:latin typeface="Myriad Pro" panose="020B0503030403020204" pitchFamily="34" charset="0"/>
                <a:ea typeface="+mn-ea"/>
                <a:cs typeface="+mn-cs"/>
              </a:rPr>
              <a:t> </a:t>
            </a:r>
            <a:r>
              <a:rPr lang="de-DE" altLang="de-DE" sz="2400" dirty="0" err="1">
                <a:solidFill>
                  <a:srgbClr val="000000"/>
                </a:solidFill>
                <a:latin typeface="Myriad Pro" panose="020B0503030403020204" pitchFamily="34" charset="0"/>
                <a:ea typeface="+mn-ea"/>
                <a:cs typeface="+mn-cs"/>
              </a:rPr>
              <a:t>skeleton</a:t>
            </a:r>
            <a:r>
              <a:rPr lang="de-DE" altLang="de-DE" sz="2400" dirty="0">
                <a:solidFill>
                  <a:srgbClr val="000000"/>
                </a:solidFill>
                <a:latin typeface="Myriad Pro" panose="020B0503030403020204" pitchFamily="34" charset="0"/>
                <a:ea typeface="+mn-ea"/>
                <a:cs typeface="+mn-cs"/>
              </a:rPr>
              <a:t> </a:t>
            </a:r>
            <a:r>
              <a:rPr lang="de-DE" altLang="de-DE" sz="2400" dirty="0" err="1">
                <a:solidFill>
                  <a:srgbClr val="000000"/>
                </a:solidFill>
                <a:latin typeface="Myriad Pro" panose="020B0503030403020204" pitchFamily="34" charset="0"/>
                <a:ea typeface="+mn-ea"/>
                <a:cs typeface="+mn-cs"/>
              </a:rPr>
              <a:t>tracking</a:t>
            </a:r>
            <a:br>
              <a:rPr lang="de-DE" altLang="de-DE" sz="2400" dirty="0">
                <a:solidFill>
                  <a:srgbClr val="000000"/>
                </a:solidFill>
                <a:latin typeface="Myriad Pro" panose="020B0503030403020204" pitchFamily="34" charset="0"/>
                <a:ea typeface="+mn-ea"/>
                <a:cs typeface="+mn-cs"/>
              </a:rPr>
            </a:br>
            <a:r>
              <a:rPr lang="de-DE" altLang="de-DE" sz="2400" dirty="0" err="1">
                <a:solidFill>
                  <a:srgbClr val="000000"/>
                </a:solidFill>
                <a:latin typeface="Myriad Pro" panose="020B0503030403020204" pitchFamily="34" charset="0"/>
                <a:ea typeface="+mn-ea"/>
                <a:cs typeface="+mn-cs"/>
              </a:rPr>
              <a:t>algorithms</a:t>
            </a:r>
            <a:r>
              <a:rPr lang="de-DE" altLang="de-DE" sz="2400" dirty="0">
                <a:solidFill>
                  <a:srgbClr val="000000"/>
                </a:solidFill>
                <a:latin typeface="Myriad Pro" panose="020B0503030403020204" pitchFamily="34" charset="0"/>
                <a:ea typeface="+mn-ea"/>
                <a:cs typeface="+mn-cs"/>
              </a:rPr>
              <a:t> </a:t>
            </a:r>
            <a:r>
              <a:rPr lang="de-DE" altLang="de-DE" sz="2400" dirty="0" err="1">
                <a:solidFill>
                  <a:srgbClr val="000000"/>
                </a:solidFill>
                <a:latin typeface="Myriad Pro" panose="020B0503030403020204" pitchFamily="34" charset="0"/>
                <a:ea typeface="+mn-ea"/>
                <a:cs typeface="+mn-cs"/>
              </a:rPr>
              <a:t>provide</a:t>
            </a:r>
            <a:r>
              <a:rPr lang="de-DE" altLang="de-DE" sz="2400" dirty="0">
                <a:solidFill>
                  <a:srgbClr val="000000"/>
                </a:solidFill>
                <a:latin typeface="Myriad Pro" panose="020B0503030403020204" pitchFamily="34" charset="0"/>
                <a:ea typeface="+mn-ea"/>
                <a:cs typeface="+mn-cs"/>
              </a:rPr>
              <a:t> </a:t>
            </a:r>
            <a:r>
              <a:rPr lang="de-DE" altLang="de-DE" sz="2400" dirty="0" err="1">
                <a:solidFill>
                  <a:srgbClr val="000000"/>
                </a:solidFill>
                <a:latin typeface="Myriad Pro" panose="020B0503030403020204" pitchFamily="34" charset="0"/>
                <a:ea typeface="+mn-ea"/>
                <a:cs typeface="+mn-cs"/>
              </a:rPr>
              <a:t>measurements</a:t>
            </a:r>
            <a:endParaRPr lang="de-DE" altLang="de-DE" dirty="0"/>
          </a:p>
        </p:txBody>
      </p:sp>
      <p:sp>
        <p:nvSpPr>
          <p:cNvPr id="17411" name="Rectangle 10"/>
          <p:cNvSpPr>
            <a:spLocks noGrp="1" noChangeArrowheads="1"/>
          </p:cNvSpPr>
          <p:nvPr>
            <p:ph idx="1"/>
          </p:nvPr>
        </p:nvSpPr>
        <p:spPr>
          <a:xfrm>
            <a:off x="550863" y="2927052"/>
            <a:ext cx="11090275" cy="3670300"/>
          </a:xfrm>
        </p:spPr>
        <p:txBody>
          <a:bodyPr/>
          <a:lstStyle/>
          <a:p>
            <a:pPr eaLnBrk="1" hangingPunct="1"/>
            <a:r>
              <a:rPr lang="de-DE" altLang="de-DE" sz="2800" dirty="0"/>
              <a:t>Eye </a:t>
            </a:r>
            <a:r>
              <a:rPr lang="de-DE" altLang="de-DE" sz="2800" dirty="0" err="1"/>
              <a:t>opening</a:t>
            </a:r>
            <a:r>
              <a:rPr lang="de-DE" altLang="de-DE" sz="2800" dirty="0"/>
              <a:t> </a:t>
            </a:r>
            <a:r>
              <a:rPr lang="de-DE" altLang="de-DE" sz="2800" dirty="0" err="1"/>
              <a:t>response</a:t>
            </a:r>
            <a:endParaRPr lang="de-DE" altLang="de-DE" sz="2800" dirty="0"/>
          </a:p>
          <a:p>
            <a:pPr lvl="1" eaLnBrk="1" hangingPunct="1"/>
            <a:r>
              <a:rPr lang="de-DE" altLang="de-DE" sz="2400" dirty="0"/>
              <a:t>Eye </a:t>
            </a:r>
            <a:r>
              <a:rPr lang="de-DE" altLang="de-DE" sz="2400" dirty="0" err="1"/>
              <a:t>opening</a:t>
            </a:r>
            <a:endParaRPr lang="de-DE" altLang="de-DE" sz="2400" dirty="0"/>
          </a:p>
          <a:p>
            <a:pPr lvl="1" eaLnBrk="1" hangingPunct="1"/>
            <a:r>
              <a:rPr lang="de-DE" altLang="de-DE" sz="2400" dirty="0"/>
              <a:t>Face </a:t>
            </a:r>
            <a:r>
              <a:rPr lang="de-DE" altLang="de-DE" sz="2400" dirty="0" err="1"/>
              <a:t>orientation</a:t>
            </a:r>
            <a:endParaRPr lang="de-DE" altLang="de-DE" sz="2400" dirty="0"/>
          </a:p>
          <a:p>
            <a:pPr eaLnBrk="1" hangingPunct="1"/>
            <a:r>
              <a:rPr lang="de-DE" altLang="de-DE" sz="2800" dirty="0"/>
              <a:t>Verbal </a:t>
            </a:r>
            <a:r>
              <a:rPr lang="de-DE" altLang="de-DE" sz="2800" dirty="0" err="1"/>
              <a:t>response</a:t>
            </a:r>
            <a:endParaRPr lang="de-DE" altLang="de-DE" sz="2800" dirty="0"/>
          </a:p>
          <a:p>
            <a:pPr lvl="1" eaLnBrk="1" hangingPunct="1"/>
            <a:r>
              <a:rPr lang="de-DE" altLang="de-DE" sz="2400" dirty="0" err="1"/>
              <a:t>Mouth</a:t>
            </a:r>
            <a:r>
              <a:rPr lang="de-DE" altLang="de-DE" sz="2400" dirty="0"/>
              <a:t> </a:t>
            </a:r>
            <a:r>
              <a:rPr lang="de-DE" altLang="de-DE" sz="2400" dirty="0" err="1"/>
              <a:t>opening</a:t>
            </a:r>
            <a:endParaRPr lang="de-DE" altLang="de-DE" sz="2400" dirty="0"/>
          </a:p>
          <a:p>
            <a:pPr eaLnBrk="1" hangingPunct="1"/>
            <a:r>
              <a:rPr lang="de-DE" altLang="de-DE" sz="2800" dirty="0"/>
              <a:t>Motor </a:t>
            </a:r>
            <a:r>
              <a:rPr lang="de-DE" altLang="de-DE" sz="2800" dirty="0" err="1"/>
              <a:t>response</a:t>
            </a:r>
            <a:endParaRPr lang="de-DE" altLang="de-DE" sz="2800" dirty="0"/>
          </a:p>
          <a:p>
            <a:pPr lvl="1" eaLnBrk="1" hangingPunct="1"/>
            <a:r>
              <a:rPr lang="de-DE" altLang="de-DE" sz="2400" dirty="0"/>
              <a:t>Hand </a:t>
            </a:r>
            <a:r>
              <a:rPr lang="de-DE" altLang="de-DE" sz="2400" dirty="0" err="1"/>
              <a:t>motion</a:t>
            </a:r>
            <a:endParaRPr lang="de-DE" altLang="de-DE" sz="2400" dirty="0"/>
          </a:p>
          <a:p>
            <a:pPr eaLnBrk="1" hangingPunct="1"/>
            <a:endParaRPr lang="de-DE" altLang="de-DE" sz="2800" dirty="0"/>
          </a:p>
        </p:txBody>
      </p:sp>
      <p:sp>
        <p:nvSpPr>
          <p:cNvPr id="17412" name="Datumsplatzhalter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Myriad Pro" panose="020B0503030403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Myriad Pro" panose="020B0503030403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Myriad Pro" panose="020B0503030403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Myriad Pro" panose="020B0503030403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Myriad Pro" panose="020B05030304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Myriad Pro" panose="020B05030304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Myriad Pro" panose="020B05030304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Myriad Pro" panose="020B05030304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Myriad Pro" panose="020B0503030403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427DF1B-F819-4835-91D7-C5E09DFC0721}" type="datetime1">
              <a:rPr lang="en-GB" altLang="de-DE" sz="1100"/>
              <a:pPr>
                <a:spcBef>
                  <a:spcPct val="0"/>
                </a:spcBef>
                <a:buFontTx/>
                <a:buNone/>
              </a:pPr>
              <a:t>06/03/2023</a:t>
            </a:fld>
            <a:endParaRPr lang="de-DE" altLang="de-DE" sz="1100"/>
          </a:p>
        </p:txBody>
      </p:sp>
      <p:sp>
        <p:nvSpPr>
          <p:cNvPr id="17414" name="Foliennummernplatzhalt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Myriad Pro" panose="020B0503030403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Myriad Pro" panose="020B0503030403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Myriad Pro" panose="020B0503030403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Myriad Pro" panose="020B0503030403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Myriad Pro" panose="020B05030304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Myriad Pro" panose="020B05030304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Myriad Pro" panose="020B05030304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Myriad Pro" panose="020B05030304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Myriad Pro" panose="020B0503030403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DFAAB79-2DB1-4929-91F4-051464E158E4}" type="slidenum">
              <a:rPr lang="de-DE" altLang="de-DE" sz="110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de-DE" altLang="de-DE" sz="1100"/>
          </a:p>
        </p:txBody>
      </p:sp>
      <p:grpSp>
        <p:nvGrpSpPr>
          <p:cNvPr id="17" name="Gruppieren 16"/>
          <p:cNvGrpSpPr/>
          <p:nvPr/>
        </p:nvGrpSpPr>
        <p:grpSpPr>
          <a:xfrm>
            <a:off x="5657790" y="1092902"/>
            <a:ext cx="6520795" cy="5420073"/>
            <a:chOff x="5657790" y="1000827"/>
            <a:chExt cx="6520795" cy="5420073"/>
          </a:xfrm>
        </p:grpSpPr>
        <p:grpSp>
          <p:nvGrpSpPr>
            <p:cNvPr id="15" name="Gruppieren 14"/>
            <p:cNvGrpSpPr/>
            <p:nvPr/>
          </p:nvGrpSpPr>
          <p:grpSpPr>
            <a:xfrm>
              <a:off x="9936630" y="1000827"/>
              <a:ext cx="2241955" cy="5420073"/>
              <a:chOff x="9936630" y="1000827"/>
              <a:chExt cx="2241955" cy="5420073"/>
            </a:xfrm>
          </p:grpSpPr>
          <p:sp>
            <p:nvSpPr>
              <p:cNvPr id="2" name="Rechteck 1"/>
              <p:cNvSpPr/>
              <p:nvPr/>
            </p:nvSpPr>
            <p:spPr>
              <a:xfrm>
                <a:off x="9936630" y="1000828"/>
                <a:ext cx="451969" cy="54200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9" name="Rechteck 8"/>
              <p:cNvSpPr/>
              <p:nvPr/>
            </p:nvSpPr>
            <p:spPr>
              <a:xfrm>
                <a:off x="10038542" y="5130799"/>
                <a:ext cx="2034121" cy="126094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0" name="Rechteck 9"/>
              <p:cNvSpPr/>
              <p:nvPr/>
            </p:nvSpPr>
            <p:spPr>
              <a:xfrm>
                <a:off x="11868150" y="1000827"/>
                <a:ext cx="310435" cy="5307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1" name="Rechteck 10"/>
              <p:cNvSpPr/>
              <p:nvPr/>
            </p:nvSpPr>
            <p:spPr>
              <a:xfrm>
                <a:off x="10105649" y="1041796"/>
                <a:ext cx="1990775" cy="17105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cxnSp>
            <p:nvCxnSpPr>
              <p:cNvPr id="8" name="Gerader Verbinder 7"/>
              <p:cNvCxnSpPr/>
              <p:nvPr/>
            </p:nvCxnSpPr>
            <p:spPr>
              <a:xfrm>
                <a:off x="10351615" y="2157312"/>
                <a:ext cx="1552790" cy="0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Gerader Verbinder 19"/>
              <p:cNvCxnSpPr/>
              <p:nvPr/>
            </p:nvCxnSpPr>
            <p:spPr>
              <a:xfrm>
                <a:off x="10351615" y="3163828"/>
                <a:ext cx="1552790" cy="0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Gerader Verbinder 20"/>
              <p:cNvCxnSpPr/>
              <p:nvPr/>
            </p:nvCxnSpPr>
            <p:spPr>
              <a:xfrm>
                <a:off x="10351615" y="4168130"/>
                <a:ext cx="1552790" cy="0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Rechteck 15"/>
            <p:cNvSpPr/>
            <p:nvPr/>
          </p:nvSpPr>
          <p:spPr>
            <a:xfrm>
              <a:off x="5657790" y="1099220"/>
              <a:ext cx="4278840" cy="520950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770990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Sensor </a:t>
            </a:r>
            <a:r>
              <a:rPr lang="de-DE" dirty="0" err="1"/>
              <a:t>fusion</a:t>
            </a:r>
            <a:r>
              <a:rPr lang="de-DE" dirty="0"/>
              <a:t>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semantic</a:t>
            </a:r>
            <a:r>
              <a:rPr lang="de-DE" dirty="0"/>
              <a:t> </a:t>
            </a:r>
            <a:r>
              <a:rPr lang="de-DE" dirty="0" err="1"/>
              <a:t>classification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Low-Pass </a:t>
            </a:r>
            <a:r>
              <a:rPr lang="de-DE" dirty="0" err="1"/>
              <a:t>Filtering</a:t>
            </a:r>
            <a:r>
              <a:rPr lang="de-DE" dirty="0"/>
              <a:t> </a:t>
            </a:r>
            <a:r>
              <a:rPr lang="de-DE" dirty="0" err="1"/>
              <a:t>over</a:t>
            </a:r>
            <a:r>
              <a:rPr lang="de-DE" dirty="0"/>
              <a:t> time</a:t>
            </a:r>
          </a:p>
          <a:p>
            <a:r>
              <a:rPr lang="de-DE" dirty="0" err="1"/>
              <a:t>Retrospective</a:t>
            </a:r>
            <a:r>
              <a:rPr lang="de-DE" dirty="0"/>
              <a:t> </a:t>
            </a:r>
            <a:r>
              <a:rPr lang="de-DE" dirty="0" err="1"/>
              <a:t>classification</a:t>
            </a:r>
            <a:endParaRPr lang="de-DE" dirty="0"/>
          </a:p>
          <a:p>
            <a:pPr lvl="1"/>
            <a:r>
              <a:rPr lang="de-DE" dirty="0" err="1"/>
              <a:t>Based</a:t>
            </a:r>
            <a:r>
              <a:rPr lang="de-DE" dirty="0"/>
              <a:t> on </a:t>
            </a:r>
            <a:r>
              <a:rPr lang="de-DE" dirty="0" err="1"/>
              <a:t>expected</a:t>
            </a:r>
            <a:r>
              <a:rPr lang="de-DE" dirty="0"/>
              <a:t> </a:t>
            </a:r>
            <a:r>
              <a:rPr lang="de-DE" dirty="0" err="1"/>
              <a:t>behavior</a:t>
            </a:r>
            <a:r>
              <a:rPr lang="de-DE" dirty="0"/>
              <a:t>, </a:t>
            </a:r>
            <a:r>
              <a:rPr lang="de-DE" dirty="0" err="1"/>
              <a:t>look</a:t>
            </a:r>
            <a:r>
              <a:rPr lang="de-DE" dirty="0"/>
              <a:t> back </a:t>
            </a:r>
            <a:r>
              <a:rPr lang="de-DE" dirty="0" err="1"/>
              <a:t>some</a:t>
            </a:r>
            <a:r>
              <a:rPr lang="de-DE" dirty="0"/>
              <a:t> time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evaluate</a:t>
            </a:r>
            <a:r>
              <a:rPr lang="de-DE" dirty="0"/>
              <a:t> </a:t>
            </a:r>
          </a:p>
          <a:p>
            <a:pPr lvl="1"/>
            <a:r>
              <a:rPr lang="de-DE" dirty="0"/>
              <a:t>Was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interesting</a:t>
            </a:r>
            <a:r>
              <a:rPr lang="de-DE" dirty="0"/>
              <a:t> </a:t>
            </a:r>
            <a:r>
              <a:rPr lang="de-DE" dirty="0" err="1"/>
              <a:t>limb</a:t>
            </a:r>
            <a:r>
              <a:rPr lang="de-DE" dirty="0"/>
              <a:t> </a:t>
            </a:r>
            <a:r>
              <a:rPr lang="de-DE" dirty="0" err="1"/>
              <a:t>even</a:t>
            </a:r>
            <a:r>
              <a:rPr lang="de-DE" dirty="0"/>
              <a:t> visible </a:t>
            </a:r>
            <a:r>
              <a:rPr lang="de-DE" dirty="0" err="1"/>
              <a:t>beforehand</a:t>
            </a:r>
            <a:r>
              <a:rPr lang="de-DE" dirty="0"/>
              <a:t>?</a:t>
            </a:r>
          </a:p>
          <a:p>
            <a:pPr lvl="1"/>
            <a:r>
              <a:rPr lang="de-DE" dirty="0" err="1"/>
              <a:t>Obtain</a:t>
            </a:r>
            <a:r>
              <a:rPr lang="de-DE" dirty="0"/>
              <a:t> </a:t>
            </a:r>
            <a:r>
              <a:rPr lang="de-DE" dirty="0" err="1"/>
              <a:t>semantic</a:t>
            </a:r>
            <a:r>
              <a:rPr lang="de-DE" dirty="0"/>
              <a:t> </a:t>
            </a:r>
            <a:r>
              <a:rPr lang="de-DE" dirty="0" err="1"/>
              <a:t>values</a:t>
            </a:r>
            <a:r>
              <a:rPr lang="de-DE" dirty="0"/>
              <a:t>, e.g.: </a:t>
            </a:r>
          </a:p>
          <a:p>
            <a:pPr lvl="2"/>
            <a:r>
              <a:rPr lang="de-DE" dirty="0"/>
              <a:t>Right </a:t>
            </a:r>
            <a:r>
              <a:rPr lang="de-DE" dirty="0" err="1"/>
              <a:t>armed</a:t>
            </a:r>
            <a:r>
              <a:rPr lang="de-DE" dirty="0"/>
              <a:t> </a:t>
            </a:r>
            <a:r>
              <a:rPr lang="de-DE" dirty="0" err="1"/>
              <a:t>moved</a:t>
            </a:r>
            <a:endParaRPr lang="de-DE" dirty="0"/>
          </a:p>
          <a:p>
            <a:pPr lvl="2"/>
            <a:r>
              <a:rPr lang="de-DE" dirty="0"/>
              <a:t>Open </a:t>
            </a:r>
            <a:r>
              <a:rPr lang="de-DE" dirty="0" err="1"/>
              <a:t>mouth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0A337D8-5079-47EE-BD23-79D77A06E038}" type="datetime1">
              <a:rPr lang="en-GB" altLang="de-DE" smtClean="0"/>
              <a:pPr>
                <a:defRPr/>
              </a:pPr>
              <a:t>06/03/2023</a:t>
            </a:fld>
            <a:endParaRPr lang="de-DE" alt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F8237-1F9C-412C-B272-1A31A6ED921F}" type="slidenum">
              <a:rPr lang="de-DE" altLang="de-DE" smtClean="0"/>
              <a:pPr/>
              <a:t>4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938556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808CBF-DBF7-4D9E-9A53-67C431D04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Sensor </a:t>
            </a:r>
            <a:r>
              <a:rPr lang="de-DE" dirty="0" err="1"/>
              <a:t>fusion</a:t>
            </a:r>
            <a:r>
              <a:rPr lang="de-DE" dirty="0"/>
              <a:t> and </a:t>
            </a:r>
            <a:r>
              <a:rPr lang="de-DE" dirty="0" err="1"/>
              <a:t>semantic</a:t>
            </a:r>
            <a:r>
              <a:rPr lang="de-DE" dirty="0"/>
              <a:t> </a:t>
            </a:r>
            <a:r>
              <a:rPr lang="de-DE" dirty="0" err="1"/>
              <a:t>classification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94ADE1F-9A6E-4144-0475-EE390B3BF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0A337D8-5079-47EE-BD23-79D77A06E038}" type="datetime1">
              <a:rPr lang="en-GB" altLang="de-DE" smtClean="0"/>
              <a:pPr>
                <a:defRPr/>
              </a:pPr>
              <a:t>06/03/2023</a:t>
            </a:fld>
            <a:endParaRPr lang="de-DE" alt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7BC23C-1A5C-24D4-AF15-AF7E51EF1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F8237-1F9C-412C-B272-1A31A6ED921F}" type="slidenum">
              <a:rPr lang="de-DE" altLang="de-DE" smtClean="0"/>
              <a:pPr/>
              <a:t>5</a:t>
            </a:fld>
            <a:endParaRPr lang="de-DE" altLang="de-DE"/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F620FB6C-6841-3F62-9B92-7F3969D73A31}"/>
              </a:ext>
            </a:extLst>
          </p:cNvPr>
          <p:cNvSpPr/>
          <p:nvPr/>
        </p:nvSpPr>
        <p:spPr>
          <a:xfrm>
            <a:off x="2984713" y="3819671"/>
            <a:ext cx="1368152" cy="9722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Command</a:t>
            </a:r>
          </a:p>
        </p:txBody>
      </p:sp>
      <p:sp>
        <p:nvSpPr>
          <p:cNvPr id="9" name="Pfeil: nach rechts 8">
            <a:extLst>
              <a:ext uri="{FF2B5EF4-FFF2-40B4-BE49-F238E27FC236}">
                <a16:creationId xmlns:a16="http://schemas.microsoft.com/office/drawing/2014/main" id="{C46D6157-DCD1-9395-4E67-D030D4014A30}"/>
              </a:ext>
            </a:extLst>
          </p:cNvPr>
          <p:cNvSpPr/>
          <p:nvPr/>
        </p:nvSpPr>
        <p:spPr>
          <a:xfrm>
            <a:off x="893161" y="2812976"/>
            <a:ext cx="10405677" cy="656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96C5AEF3-C94F-0732-56B1-45E05DE0DBD1}"/>
              </a:ext>
            </a:extLst>
          </p:cNvPr>
          <p:cNvSpPr/>
          <p:nvPr/>
        </p:nvSpPr>
        <p:spPr>
          <a:xfrm>
            <a:off x="1284921" y="3819671"/>
            <a:ext cx="1368152" cy="9722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Limb</a:t>
            </a:r>
            <a:r>
              <a:rPr lang="de-DE" dirty="0">
                <a:solidFill>
                  <a:schemeClr val="tx1"/>
                </a:solidFill>
              </a:rPr>
              <a:t> visible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15BE5175-1BC3-3410-3683-F20869F5D127}"/>
              </a:ext>
            </a:extLst>
          </p:cNvPr>
          <p:cNvSpPr/>
          <p:nvPr/>
        </p:nvSpPr>
        <p:spPr>
          <a:xfrm>
            <a:off x="7881567" y="3840548"/>
            <a:ext cx="1368152" cy="9722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Check </a:t>
            </a:r>
            <a:r>
              <a:rPr lang="de-DE" dirty="0" err="1">
                <a:solidFill>
                  <a:schemeClr val="tx1"/>
                </a:solidFill>
              </a:rPr>
              <a:t>for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desired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movement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2" name="Geschweifte Klammer links 11">
            <a:extLst>
              <a:ext uri="{FF2B5EF4-FFF2-40B4-BE49-F238E27FC236}">
                <a16:creationId xmlns:a16="http://schemas.microsoft.com/office/drawing/2014/main" id="{5B3F0057-1B76-AD17-AF13-33F43ECE3DFA}"/>
              </a:ext>
            </a:extLst>
          </p:cNvPr>
          <p:cNvSpPr/>
          <p:nvPr/>
        </p:nvSpPr>
        <p:spPr>
          <a:xfrm rot="16200000">
            <a:off x="2016047" y="2548028"/>
            <a:ext cx="505100" cy="2038189"/>
          </a:xfrm>
          <a:prstGeom prst="leftBrace">
            <a:avLst>
              <a:gd name="adj1" fmla="val 48122"/>
              <a:gd name="adj2" fmla="val 35513"/>
            </a:avLst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14261AFB-9184-61E1-F775-D9B918798E91}"/>
              </a:ext>
            </a:extLst>
          </p:cNvPr>
          <p:cNvCxnSpPr>
            <a:cxnSpLocks/>
          </p:cNvCxnSpPr>
          <p:nvPr/>
        </p:nvCxnSpPr>
        <p:spPr>
          <a:xfrm flipV="1">
            <a:off x="3647728" y="3314572"/>
            <a:ext cx="0" cy="505099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eschweifte Klammer links 16">
            <a:extLst>
              <a:ext uri="{FF2B5EF4-FFF2-40B4-BE49-F238E27FC236}">
                <a16:creationId xmlns:a16="http://schemas.microsoft.com/office/drawing/2014/main" id="{890705DD-AE8C-B18A-9885-44529C5FFF29}"/>
              </a:ext>
            </a:extLst>
          </p:cNvPr>
          <p:cNvSpPr/>
          <p:nvPr/>
        </p:nvSpPr>
        <p:spPr>
          <a:xfrm rot="16200000">
            <a:off x="6276928" y="1110793"/>
            <a:ext cx="503664" cy="4914091"/>
          </a:xfrm>
          <a:prstGeom prst="leftBrace">
            <a:avLst>
              <a:gd name="adj1" fmla="val 48122"/>
              <a:gd name="adj2" fmla="val 91906"/>
            </a:avLst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2292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User </a:t>
            </a:r>
            <a:r>
              <a:rPr lang="de-DE" dirty="0" err="1"/>
              <a:t>tracking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In-view </a:t>
            </a:r>
            <a:r>
              <a:rPr lang="de-DE" dirty="0" err="1"/>
              <a:t>tracking</a:t>
            </a:r>
            <a:r>
              <a:rPr lang="de-DE" dirty="0"/>
              <a:t> </a:t>
            </a:r>
          </a:p>
          <a:p>
            <a:pPr lvl="1"/>
            <a:r>
              <a:rPr lang="de-DE" dirty="0" err="1"/>
              <a:t>Feeding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user</a:t>
            </a:r>
            <a:r>
              <a:rPr lang="de-DE" dirty="0"/>
              <a:t> </a:t>
            </a:r>
            <a:r>
              <a:rPr lang="de-DE" dirty="0" err="1"/>
              <a:t>object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measured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patient</a:t>
            </a:r>
            <a:endParaRPr lang="de-DE" dirty="0"/>
          </a:p>
          <a:p>
            <a:pPr lvl="2"/>
            <a:r>
              <a:rPr lang="de-DE" dirty="0"/>
              <a:t>Event </a:t>
            </a:r>
            <a:r>
              <a:rPr lang="de-DE" dirty="0" err="1"/>
              <a:t>based</a:t>
            </a:r>
            <a:r>
              <a:rPr lang="de-DE" dirty="0"/>
              <a:t> </a:t>
            </a:r>
            <a:r>
              <a:rPr lang="de-DE" dirty="0" err="1"/>
              <a:t>structure</a:t>
            </a:r>
            <a:r>
              <a:rPr lang="de-DE" dirty="0"/>
              <a:t>, link </a:t>
            </a:r>
            <a:r>
              <a:rPr lang="de-DE" dirty="0" err="1"/>
              <a:t>to</a:t>
            </a:r>
            <a:r>
              <a:rPr lang="de-DE" dirty="0"/>
              <a:t> verbal </a:t>
            </a:r>
            <a:r>
              <a:rPr lang="de-DE" dirty="0" err="1"/>
              <a:t>interaction</a:t>
            </a:r>
            <a:endParaRPr lang="de-DE" dirty="0"/>
          </a:p>
          <a:p>
            <a:pPr lvl="1"/>
            <a:r>
              <a:rPr lang="de-DE" dirty="0" err="1"/>
              <a:t>Starting</a:t>
            </a:r>
            <a:r>
              <a:rPr lang="de-DE" dirty="0"/>
              <a:t> GCS </a:t>
            </a:r>
            <a:r>
              <a:rPr lang="de-DE" dirty="0" err="1"/>
              <a:t>protocol</a:t>
            </a:r>
            <a:r>
              <a:rPr lang="de-DE" dirty="0"/>
              <a:t> </a:t>
            </a:r>
            <a:r>
              <a:rPr lang="de-DE" dirty="0" err="1"/>
              <a:t>event</a:t>
            </a:r>
            <a:r>
              <a:rPr lang="de-DE" dirty="0"/>
              <a:t> </a:t>
            </a: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situation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stable</a:t>
            </a:r>
            <a:endParaRPr lang="de-DE" dirty="0"/>
          </a:p>
          <a:p>
            <a:r>
              <a:rPr lang="de-DE" dirty="0"/>
              <a:t>Face </a:t>
            </a:r>
            <a:r>
              <a:rPr lang="de-DE" dirty="0" err="1"/>
              <a:t>tagging</a:t>
            </a:r>
            <a:endParaRPr lang="de-DE" dirty="0"/>
          </a:p>
          <a:p>
            <a:pPr lvl="1"/>
            <a:r>
              <a:rPr lang="de-DE" dirty="0"/>
              <a:t>User </a:t>
            </a:r>
            <a:r>
              <a:rPr lang="de-DE" dirty="0" err="1"/>
              <a:t>obtains</a:t>
            </a:r>
            <a:r>
              <a:rPr lang="de-DE" dirty="0"/>
              <a:t> a persistent face-ID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re-recognition</a:t>
            </a:r>
            <a:r>
              <a:rPr lang="de-DE" dirty="0"/>
              <a:t> </a:t>
            </a:r>
          </a:p>
          <a:p>
            <a:pPr marL="457200" lvl="1" indent="0">
              <a:buNone/>
            </a:pPr>
            <a:r>
              <a:rPr lang="de-DE" dirty="0"/>
              <a:t>   -&gt;</a:t>
            </a:r>
            <a:r>
              <a:rPr lang="de-DE" dirty="0" err="1"/>
              <a:t>Object</a:t>
            </a:r>
            <a:r>
              <a:rPr lang="de-DE" dirty="0"/>
              <a:t> </a:t>
            </a:r>
            <a:r>
              <a:rPr lang="de-DE" dirty="0" err="1"/>
              <a:t>identifier</a:t>
            </a:r>
            <a:endParaRPr lang="de-DE" dirty="0"/>
          </a:p>
          <a:p>
            <a:pPr marL="457200" lvl="1" indent="0">
              <a:buNone/>
            </a:pP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0A337D8-5079-47EE-BD23-79D77A06E038}" type="datetime1">
              <a:rPr lang="en-GB" altLang="de-DE" smtClean="0"/>
              <a:pPr>
                <a:defRPr/>
              </a:pPr>
              <a:t>06/03/2023</a:t>
            </a:fld>
            <a:endParaRPr lang="de-DE" alt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F8237-1F9C-412C-B272-1A31A6ED921F}" type="slidenum">
              <a:rPr lang="de-DE" altLang="de-DE" smtClean="0"/>
              <a:pPr/>
              <a:t>6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091524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BA4AB11-9FB5-4CF7-A0EE-D8B53CAADECE}" type="datetime1">
              <a:rPr lang="en-GB" altLang="de-DE" smtClean="0"/>
              <a:pPr>
                <a:defRPr/>
              </a:pPr>
              <a:t>06/03/2023</a:t>
            </a:fld>
            <a:endParaRPr lang="de-DE" alt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ABDDF-F8B0-4495-8D14-7A7588D3C691}" type="slidenum">
              <a:rPr lang="de-DE" altLang="de-DE" smtClean="0"/>
              <a:pPr/>
              <a:t>7</a:t>
            </a:fld>
            <a:endParaRPr lang="de-DE" altLang="de-DE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544" y="3105184"/>
            <a:ext cx="5855063" cy="3374230"/>
          </a:xfrm>
          <a:prstGeom prst="rect">
            <a:avLst/>
          </a:prstGeom>
        </p:spPr>
      </p:pic>
      <p:sp>
        <p:nvSpPr>
          <p:cNvPr id="5" name="Legende mit Linie 1 (ohne Rahmen) 4"/>
          <p:cNvSpPr/>
          <p:nvPr/>
        </p:nvSpPr>
        <p:spPr>
          <a:xfrm>
            <a:off x="5447928" y="4972036"/>
            <a:ext cx="1296144" cy="612648"/>
          </a:xfrm>
          <a:prstGeom prst="callout1">
            <a:avLst>
              <a:gd name="adj1" fmla="val 46735"/>
              <a:gd name="adj2" fmla="val 83526"/>
              <a:gd name="adj3" fmla="val -35199"/>
              <a:gd name="adj4" fmla="val 124074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Speaker</a:t>
            </a:r>
          </a:p>
        </p:txBody>
      </p:sp>
      <p:sp>
        <p:nvSpPr>
          <p:cNvPr id="7" name="Legende mit Linie 1 (ohne Rahmen) 6"/>
          <p:cNvSpPr/>
          <p:nvPr/>
        </p:nvSpPr>
        <p:spPr>
          <a:xfrm>
            <a:off x="5879976" y="5554596"/>
            <a:ext cx="1296144" cy="612648"/>
          </a:xfrm>
          <a:prstGeom prst="callout1">
            <a:avLst>
              <a:gd name="adj1" fmla="val 46735"/>
              <a:gd name="adj2" fmla="val 83526"/>
              <a:gd name="adj3" fmla="val -102052"/>
              <a:gd name="adj4" fmla="val 153468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RGB-D </a:t>
            </a:r>
            <a:r>
              <a:rPr lang="de-DE" dirty="0" err="1"/>
              <a:t>camera</a:t>
            </a:r>
            <a:endParaRPr lang="de-DE" dirty="0"/>
          </a:p>
        </p:txBody>
      </p:sp>
      <p:sp>
        <p:nvSpPr>
          <p:cNvPr id="8" name="Legende mit Linie 1 (ohne Rahmen) 7"/>
          <p:cNvSpPr/>
          <p:nvPr/>
        </p:nvSpPr>
        <p:spPr>
          <a:xfrm>
            <a:off x="5735960" y="2798860"/>
            <a:ext cx="2484785" cy="612648"/>
          </a:xfrm>
          <a:prstGeom prst="callout1">
            <a:avLst>
              <a:gd name="adj1" fmla="val 57618"/>
              <a:gd name="adj2" fmla="val 85826"/>
              <a:gd name="adj3" fmla="val 171579"/>
              <a:gd name="adj4" fmla="val 113506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err="1"/>
              <a:t>Microphone</a:t>
            </a:r>
            <a:r>
              <a:rPr lang="de-DE" dirty="0"/>
              <a:t> </a:t>
            </a:r>
            <a:r>
              <a:rPr lang="de-DE" dirty="0" err="1"/>
              <a:t>array</a:t>
            </a:r>
            <a:endParaRPr lang="de-DE" dirty="0"/>
          </a:p>
        </p:txBody>
      </p:sp>
      <p:graphicFrame>
        <p:nvGraphicFramePr>
          <p:cNvPr id="9" name="Tabel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7034862"/>
              </p:ext>
            </p:extLst>
          </p:nvPr>
        </p:nvGraphicFramePr>
        <p:xfrm>
          <a:off x="371944" y="2996952"/>
          <a:ext cx="4464496" cy="3505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29576">
                  <a:extLst>
                    <a:ext uri="{9D8B030D-6E8A-4147-A177-3AD203B41FA5}">
                      <a16:colId xmlns:a16="http://schemas.microsoft.com/office/drawing/2014/main" val="4040836233"/>
                    </a:ext>
                  </a:extLst>
                </a:gridCol>
                <a:gridCol w="1934920">
                  <a:extLst>
                    <a:ext uri="{9D8B030D-6E8A-4147-A177-3AD203B41FA5}">
                      <a16:colId xmlns:a16="http://schemas.microsoft.com/office/drawing/2014/main" val="5672903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Processor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effectLst/>
                        </a:rPr>
                        <a:t>Intel NUC11TNBi7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3078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Thermal Design Power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effectLst/>
                        </a:rPr>
                        <a:t>28 W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2618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Frequency 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effectLst/>
                        </a:rPr>
                        <a:t>4.70 GHz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403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Cores / Threads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effectLst/>
                        </a:rPr>
                        <a:t>4 / 8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6924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Memory Size 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16 GB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293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Audio</a:t>
                      </a:r>
                      <a:r>
                        <a:rPr lang="de-DE" baseline="0" dirty="0"/>
                        <a:t> </a:t>
                      </a:r>
                      <a:r>
                        <a:rPr lang="de-DE" baseline="0" dirty="0" err="1"/>
                        <a:t>co-processor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XMOS XVF-3000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4543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Power / </a:t>
                      </a:r>
                      <a:r>
                        <a:rPr lang="de-DE" dirty="0" err="1"/>
                        <a:t>communication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DRZ </a:t>
                      </a:r>
                      <a:r>
                        <a:rPr lang="de-DE" dirty="0" err="1"/>
                        <a:t>module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slot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8015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err="1"/>
                        <a:t>Battery</a:t>
                      </a:r>
                      <a:r>
                        <a:rPr lang="de-DE" baseline="0" dirty="0"/>
                        <a:t> </a:t>
                      </a:r>
                      <a:r>
                        <a:rPr lang="de-DE" baseline="0" dirty="0" err="1"/>
                        <a:t>backup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20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9495023"/>
                  </a:ext>
                </a:extLst>
              </a:tr>
            </a:tbl>
          </a:graphicData>
        </a:graphic>
      </p:graphicFrame>
      <p:sp>
        <p:nvSpPr>
          <p:cNvPr id="10" name="Rectangle 9"/>
          <p:cNvSpPr txBox="1">
            <a:spLocks noChangeArrowheads="1"/>
          </p:cNvSpPr>
          <p:nvPr/>
        </p:nvSpPr>
        <p:spPr>
          <a:xfrm>
            <a:off x="334317" y="1133872"/>
            <a:ext cx="11594331" cy="11430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Myriad Pro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Myriad Pro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Myriad Pro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Myriad Pro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Myriad Pro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Myriad Pro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Myriad Pro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Myriad Pro" pitchFamily="34" charset="0"/>
              </a:defRPr>
            </a:lvl9pPr>
          </a:lstStyle>
          <a:p>
            <a:pPr eaLnBrk="1" hangingPunct="1"/>
            <a:r>
              <a:rPr lang="de-DE" altLang="de-DE" kern="0" dirty="0"/>
              <a:t>GCS Module</a:t>
            </a:r>
          </a:p>
          <a:p>
            <a:pPr eaLnBrk="1" hangingPunct="1"/>
            <a:endParaRPr lang="de-DE" altLang="de-DE" sz="2000" kern="0" dirty="0"/>
          </a:p>
          <a:p>
            <a:pPr eaLnBrk="1" hangingPunct="1"/>
            <a:r>
              <a:rPr lang="de-DE" altLang="de-DE" sz="2400" kern="0" dirty="0" err="1"/>
              <a:t>Dedicated</a:t>
            </a:r>
            <a:r>
              <a:rPr lang="de-DE" altLang="de-DE" sz="2400" kern="0" dirty="0"/>
              <a:t> </a:t>
            </a:r>
            <a:r>
              <a:rPr lang="de-DE" altLang="de-DE" sz="2400" kern="0" dirty="0" err="1"/>
              <a:t>module</a:t>
            </a:r>
            <a:r>
              <a:rPr lang="de-DE" altLang="de-DE" sz="2400" kern="0" dirty="0"/>
              <a:t> </a:t>
            </a:r>
            <a:r>
              <a:rPr lang="de-DE" altLang="de-DE" sz="2400" kern="0" dirty="0" err="1"/>
              <a:t>for</a:t>
            </a:r>
            <a:r>
              <a:rPr lang="de-DE" altLang="de-DE" sz="2400" kern="0" dirty="0"/>
              <a:t> </a:t>
            </a:r>
            <a:r>
              <a:rPr lang="de-DE" altLang="de-DE" sz="2400" kern="0" dirty="0" err="1"/>
              <a:t>computing</a:t>
            </a:r>
            <a:r>
              <a:rPr lang="de-DE" altLang="de-DE" sz="2400" kern="0" dirty="0"/>
              <a:t> </a:t>
            </a:r>
            <a:r>
              <a:rPr lang="de-DE" altLang="de-DE" sz="2400" kern="0" dirty="0" err="1"/>
              <a:t>the</a:t>
            </a:r>
            <a:r>
              <a:rPr lang="de-DE" altLang="de-DE" sz="2400" kern="0" dirty="0"/>
              <a:t> Glasgow </a:t>
            </a:r>
            <a:r>
              <a:rPr lang="de-DE" altLang="de-DE" sz="2400" kern="0" dirty="0" err="1"/>
              <a:t>Coma</a:t>
            </a:r>
            <a:r>
              <a:rPr lang="de-DE" altLang="de-DE" sz="2400" kern="0" dirty="0"/>
              <a:t> Score (GCS) </a:t>
            </a:r>
            <a:r>
              <a:rPr lang="de-DE" altLang="de-DE" sz="2400" kern="0" dirty="0" err="1"/>
              <a:t>based</a:t>
            </a:r>
            <a:r>
              <a:rPr lang="de-DE" altLang="de-DE" sz="2400" kern="0" dirty="0"/>
              <a:t> on </a:t>
            </a:r>
            <a:r>
              <a:rPr lang="de-DE" altLang="de-DE" sz="2400" kern="0" dirty="0" err="1"/>
              <a:t>speech</a:t>
            </a:r>
            <a:r>
              <a:rPr lang="de-DE" altLang="de-DE" sz="2400" kern="0" dirty="0"/>
              <a:t> </a:t>
            </a:r>
            <a:r>
              <a:rPr lang="de-DE" altLang="de-DE" sz="2400" kern="0" dirty="0" err="1"/>
              <a:t>recognition</a:t>
            </a:r>
            <a:r>
              <a:rPr lang="de-DE" altLang="de-DE" sz="2400" kern="0" dirty="0"/>
              <a:t> </a:t>
            </a:r>
            <a:r>
              <a:rPr lang="de-DE" altLang="de-DE" sz="2400" kern="0" dirty="0" err="1"/>
              <a:t>and</a:t>
            </a:r>
            <a:r>
              <a:rPr lang="de-DE" altLang="de-DE" sz="2400" kern="0" dirty="0"/>
              <a:t> RGB-D </a:t>
            </a:r>
            <a:r>
              <a:rPr lang="de-DE" altLang="de-DE" sz="2400" kern="0" dirty="0" err="1"/>
              <a:t>image</a:t>
            </a:r>
            <a:r>
              <a:rPr lang="de-DE" altLang="de-DE" sz="2400" kern="0" dirty="0"/>
              <a:t> </a:t>
            </a:r>
            <a:r>
              <a:rPr lang="de-DE" altLang="de-DE" sz="2400" kern="0" dirty="0" err="1"/>
              <a:t>data</a:t>
            </a:r>
            <a:r>
              <a:rPr lang="de-DE" altLang="de-DE" sz="2400" kern="0" dirty="0"/>
              <a:t> </a:t>
            </a:r>
            <a:r>
              <a:rPr lang="de-DE" altLang="de-DE" sz="2400" kern="0" dirty="0" err="1"/>
              <a:t>analysis</a:t>
            </a:r>
            <a:endParaRPr lang="de-DE" altLang="de-DE" sz="2400" kern="0" dirty="0"/>
          </a:p>
        </p:txBody>
      </p:sp>
    </p:spTree>
    <p:extLst>
      <p:ext uri="{BB962C8B-B14F-4D97-AF65-F5344CB8AC3E}">
        <p14:creationId xmlns:p14="http://schemas.microsoft.com/office/powerpoint/2010/main" val="1859060450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andarddesign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Standarddesign">
  <a:themeElements>
    <a:clrScheme name="1_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Standarddesign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Standarddesign">
  <a:themeElements>
    <a:clrScheme name="3_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Standarddesign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_Standarddesign">
  <a:themeElements>
    <a:clrScheme name="2_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Standarddesign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738</Words>
  <Application>Microsoft Office PowerPoint</Application>
  <PresentationFormat>Breitbild</PresentationFormat>
  <Paragraphs>170</Paragraphs>
  <Slides>7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4</vt:i4>
      </vt:variant>
      <vt:variant>
        <vt:lpstr>Folientitel</vt:lpstr>
      </vt:variant>
      <vt:variant>
        <vt:i4>7</vt:i4>
      </vt:variant>
    </vt:vector>
  </HeadingPairs>
  <TitlesOfParts>
    <vt:vector size="13" baseType="lpstr">
      <vt:lpstr>Arial</vt:lpstr>
      <vt:lpstr>Myriad Pro</vt:lpstr>
      <vt:lpstr>Standarddesign</vt:lpstr>
      <vt:lpstr>1_Standarddesign</vt:lpstr>
      <vt:lpstr>3_Standarddesign</vt:lpstr>
      <vt:lpstr>2_Standarddesign</vt:lpstr>
      <vt:lpstr>Erfassung non-verbaler Kommunikation  zur Bestimmung der Glasgow Coma Scale (GCS)</vt:lpstr>
      <vt:lpstr>Glasgow Coma Score (GCS)</vt:lpstr>
      <vt:lpstr>Non-verbal assessment  Combined face and skeleton tracking algorithms provide measurements</vt:lpstr>
      <vt:lpstr>Sensor fusion and semantic classification</vt:lpstr>
      <vt:lpstr>Sensor fusion and semantic classification</vt:lpstr>
      <vt:lpstr>User tracking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Universität zu Lübeck</dc:title>
  <dc:creator>Uli</dc:creator>
  <cp:lastModifiedBy>Hauke Budig</cp:lastModifiedBy>
  <cp:revision>126</cp:revision>
  <dcterms:created xsi:type="dcterms:W3CDTF">2010-04-27T12:26:40Z</dcterms:created>
  <dcterms:modified xsi:type="dcterms:W3CDTF">2023-03-06T15:13:27Z</dcterms:modified>
</cp:coreProperties>
</file>